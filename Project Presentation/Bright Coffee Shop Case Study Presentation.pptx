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852" r:id="rId4"/>
  </p:sldMasterIdLst>
  <p:notesMasterIdLst>
    <p:notesMasterId r:id="rId20"/>
  </p:notesMasterIdLst>
  <p:handoutMasterIdLst>
    <p:handoutMasterId r:id="rId21"/>
  </p:handoutMasterIdLst>
  <p:sldIdLst>
    <p:sldId id="256"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6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6" autoAdjust="0"/>
    <p:restoredTop sz="94660"/>
  </p:normalViewPr>
  <p:slideViewPr>
    <p:cSldViewPr snapToGrid="0">
      <p:cViewPr varScale="1">
        <p:scale>
          <a:sx n="71" d="100"/>
          <a:sy n="71" d="100"/>
        </p:scale>
        <p:origin x="72" y="144"/>
      </p:cViewPr>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Dell\Desktop\Data%20Analytics\Analytics%20Project\Bright_Coffee_Project_Charts%20and%20Graph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Dell\Desktop\Data%20Analytics\Analytics%20Project\Bright_Coffee_Project_Charts%20and%20Graph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Dell\Desktop\Data%20Analytics\Analytics%20Project\Bright_Coffee_Project_Charts%20and%20Graph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Dell\Desktop\Data%20Analytics\Analytics%20Project\Bright_Coffee_Project_Charts%20and%20Graph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Dell\Desktop\Data%20Analytics\Analytics%20Project\Bright_Coffee_Project_Charts%20and%20Graph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Dell\Desktop\Data%20Analytics\Analytics%20Project\Bright_Coffee_Project_Charts%20and%20Graph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Dell\Desktop\Data%20Analytics\Analytics%20Project\Bright_Coffee_Project_Charts%20and%20Graphs.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[Bright_Coffee_Project_Charts and Graphs.xlsx]Chart for Revenue Category!PivotTable2</c:name>
    <c:fmtId val="15"/>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Revenue Per Category</a:t>
            </a:r>
          </a:p>
        </c:rich>
      </c:tx>
      <c:layout/>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2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2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
        <c:idx val="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'Chart for Revenue Category'!$B$3</c:f>
              <c:strCache>
                <c:ptCount val="1"/>
                <c:pt idx="0">
                  <c:v>Total</c:v>
                </c:pt>
              </c:strCache>
            </c:strRef>
          </c:tx>
          <c:dPt>
            <c:idx val="0"/>
            <c:bubble3D val="0"/>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dPt>
          <c:dPt>
            <c:idx val="1"/>
            <c:bubble3D val="0"/>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dPt>
          <c:dPt>
            <c:idx val="2"/>
            <c:bubble3D val="0"/>
            <c:spPr>
              <a:gradFill rotWithShape="1">
                <a:gsLst>
                  <a:gs pos="0">
                    <a:schemeClr val="accent3">
                      <a:tint val="100000"/>
                      <a:shade val="85000"/>
                      <a:satMod val="100000"/>
                      <a:lumMod val="100000"/>
                    </a:schemeClr>
                  </a:gs>
                  <a:gs pos="100000">
                    <a:schemeClr val="accent3">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dPt>
          <c:dPt>
            <c:idx val="3"/>
            <c:bubble3D val="0"/>
            <c:spPr>
              <a:gradFill rotWithShape="1">
                <a:gsLst>
                  <a:gs pos="0">
                    <a:schemeClr val="accent4">
                      <a:tint val="100000"/>
                      <a:shade val="85000"/>
                      <a:satMod val="100000"/>
                      <a:lumMod val="100000"/>
                    </a:schemeClr>
                  </a:gs>
                  <a:gs pos="100000">
                    <a:schemeClr val="accent4">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dPt>
          <c:dPt>
            <c:idx val="4"/>
            <c:bubble3D val="0"/>
            <c:spPr>
              <a:gradFill rotWithShape="1">
                <a:gsLst>
                  <a:gs pos="0">
                    <a:schemeClr val="accent5">
                      <a:tint val="100000"/>
                      <a:shade val="85000"/>
                      <a:satMod val="100000"/>
                      <a:lumMod val="100000"/>
                    </a:schemeClr>
                  </a:gs>
                  <a:gs pos="100000">
                    <a:schemeClr val="accent5">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dPt>
          <c:dPt>
            <c:idx val="5"/>
            <c:bubble3D val="0"/>
            <c:spPr>
              <a:gradFill rotWithShape="1">
                <a:gsLst>
                  <a:gs pos="0">
                    <a:schemeClr val="accent6">
                      <a:tint val="100000"/>
                      <a:shade val="85000"/>
                      <a:satMod val="100000"/>
                      <a:lumMod val="100000"/>
                    </a:schemeClr>
                  </a:gs>
                  <a:gs pos="100000">
                    <a:schemeClr val="accent6">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dPt>
          <c:dPt>
            <c:idx val="6"/>
            <c:bubble3D val="0"/>
            <c:spPr>
              <a:gradFill rotWithShape="1">
                <a:gsLst>
                  <a:gs pos="0">
                    <a:schemeClr val="accent1">
                      <a:lumMod val="60000"/>
                      <a:tint val="100000"/>
                      <a:shade val="85000"/>
                      <a:satMod val="100000"/>
                      <a:lumMod val="100000"/>
                    </a:schemeClr>
                  </a:gs>
                  <a:gs pos="100000">
                    <a:schemeClr val="accent1">
                      <a:lumMod val="6000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dPt>
          <c:dPt>
            <c:idx val="7"/>
            <c:bubble3D val="0"/>
            <c:spPr>
              <a:gradFill rotWithShape="1">
                <a:gsLst>
                  <a:gs pos="0">
                    <a:schemeClr val="accent2">
                      <a:lumMod val="60000"/>
                      <a:tint val="100000"/>
                      <a:shade val="85000"/>
                      <a:satMod val="100000"/>
                      <a:lumMod val="100000"/>
                    </a:schemeClr>
                  </a:gs>
                  <a:gs pos="100000">
                    <a:schemeClr val="accent2">
                      <a:lumMod val="6000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dPt>
          <c:dPt>
            <c:idx val="8"/>
            <c:bubble3D val="0"/>
            <c:spPr>
              <a:gradFill rotWithShape="1">
                <a:gsLst>
                  <a:gs pos="0">
                    <a:schemeClr val="accent3">
                      <a:lumMod val="60000"/>
                      <a:tint val="100000"/>
                      <a:shade val="85000"/>
                      <a:satMod val="100000"/>
                      <a:lumMod val="100000"/>
                    </a:schemeClr>
                  </a:gs>
                  <a:gs pos="100000">
                    <a:schemeClr val="accent3">
                      <a:lumMod val="6000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dPt>
          <c:dPt>
            <c:idx val="9"/>
            <c:bubble3D val="0"/>
            <c:spPr>
              <a:gradFill rotWithShape="1">
                <a:gsLst>
                  <a:gs pos="0">
                    <a:schemeClr val="accent4">
                      <a:lumMod val="60000"/>
                      <a:tint val="100000"/>
                      <a:shade val="85000"/>
                      <a:satMod val="100000"/>
                      <a:lumMod val="100000"/>
                    </a:schemeClr>
                  </a:gs>
                  <a:gs pos="100000">
                    <a:schemeClr val="accent4">
                      <a:lumMod val="6000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15:layout/>
              </c:ext>
            </c:extLst>
          </c:dLbls>
          <c:cat>
            <c:strRef>
              <c:f>'Chart for Revenue Category'!$A$4:$A$13</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'Chart for Revenue Category'!$B$4:$B$13</c:f>
              <c:numCache>
                <c:formatCode>[$R-432]#,##0.00</c:formatCode>
                <c:ptCount val="9"/>
                <c:pt idx="0">
                  <c:v>82315.640000000014</c:v>
                </c:pt>
                <c:pt idx="1">
                  <c:v>13607</c:v>
                </c:pt>
                <c:pt idx="2">
                  <c:v>269952.45000000077</c:v>
                </c:pt>
                <c:pt idx="3">
                  <c:v>40085.250000000007</c:v>
                </c:pt>
                <c:pt idx="4">
                  <c:v>72416</c:v>
                </c:pt>
                <c:pt idx="5">
                  <c:v>8408.8000000000629</c:v>
                </c:pt>
                <c:pt idx="6">
                  <c:v>11213.600000000037</c:v>
                </c:pt>
                <c:pt idx="7">
                  <c:v>4407.6399999999894</c:v>
                </c:pt>
                <c:pt idx="8">
                  <c:v>196405.95000000115</c:v>
                </c:pt>
              </c:numCache>
            </c:numRef>
          </c:val>
        </c:ser>
        <c:dLbls>
          <c:dLblPos val="bestFit"/>
          <c:showLegendKey val="0"/>
          <c:showVal val="1"/>
          <c:showCatName val="0"/>
          <c:showSerName val="0"/>
          <c:showPercent val="0"/>
          <c:showBubbleSize val="0"/>
          <c:showLeaderLines val="1"/>
        </c:dLbls>
      </c:pie3DChart>
      <c:spPr>
        <a:noFill/>
        <a:ln>
          <a:noFill/>
        </a:ln>
        <a:effectLst/>
      </c:spPr>
    </c:plotArea>
    <c:legend>
      <c:legendPos val="r"/>
      <c:layout/>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[Bright_Coffee_Project_Charts and Graphs.xlsx]Stores and Category Performance!PivotTable3</c:name>
    <c:fmtId val="2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Product</a:t>
            </a:r>
            <a:r>
              <a:rPr lang="en-US" baseline="0"/>
              <a:t> Category Sales</a:t>
            </a: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6"/>
          </a:solidFill>
          <a:ln>
            <a:noFill/>
          </a:ln>
          <a:effectLst/>
        </c:spPr>
        <c:marker>
          <c:symbol val="none"/>
        </c:marker>
      </c:pivotFmt>
      <c:pivotFmt>
        <c:idx val="1"/>
        <c:spPr>
          <a:solidFill>
            <a:schemeClr val="accent6"/>
          </a:solidFill>
          <a:ln>
            <a:noFill/>
          </a:ln>
          <a:effectLst/>
        </c:spPr>
        <c:marker>
          <c:symbol val="none"/>
        </c:marker>
      </c:pivotFmt>
      <c:pivotFmt>
        <c:idx val="2"/>
        <c:spPr>
          <a:solidFill>
            <a:schemeClr val="accent6"/>
          </a:solidFill>
          <a:ln>
            <a:noFill/>
          </a:ln>
          <a:effectLst/>
        </c:spPr>
        <c:marker>
          <c:symbol val="none"/>
        </c:marker>
      </c:pivotFmt>
      <c:pivotFmt>
        <c:idx val="3"/>
        <c:spPr>
          <a:solidFill>
            <a:schemeClr val="accent6"/>
          </a:solidFill>
          <a:ln>
            <a:noFill/>
          </a:ln>
          <a:effectLst/>
        </c:spPr>
        <c:marker>
          <c:spPr>
            <a:solidFill>
              <a:schemeClr val="accent6"/>
            </a:solidFill>
            <a:ln w="9525">
              <a:solidFill>
                <a:schemeClr val="accent6"/>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pivotFmt>
      <c:pivotFmt>
        <c:idx val="5"/>
        <c:spPr>
          <a:solidFill>
            <a:schemeClr val="accent6"/>
          </a:solidFill>
          <a:ln>
            <a:noFill/>
          </a:ln>
          <a:effectLst/>
        </c:spPr>
        <c:marker>
          <c:symbol val="none"/>
        </c:marker>
      </c:pivotFmt>
      <c:pivotFmt>
        <c:idx val="6"/>
        <c:spPr>
          <a:solidFill>
            <a:schemeClr val="accent6"/>
          </a:solidFill>
          <a:ln>
            <a:noFill/>
          </a:ln>
          <a:effectLst/>
        </c:spPr>
        <c:marker>
          <c:symbol val="none"/>
        </c:marker>
      </c:pivotFmt>
      <c:pivotFmt>
        <c:idx val="7"/>
        <c:spPr>
          <a:solidFill>
            <a:schemeClr val="accent6"/>
          </a:solidFill>
          <a:ln>
            <a:noFill/>
          </a:ln>
          <a:effectLst/>
        </c:spPr>
        <c:marker>
          <c:symbol val="none"/>
        </c:marker>
      </c:pivotFmt>
      <c:pivotFmt>
        <c:idx val="8"/>
        <c:spPr>
          <a:solidFill>
            <a:schemeClr val="accent6"/>
          </a:solidFill>
          <a:ln>
            <a:noFill/>
          </a:ln>
          <a:effectLst/>
        </c:spPr>
        <c:marker>
          <c:symbol val="none"/>
        </c:marker>
      </c:pivotFmt>
      <c:pivotFmt>
        <c:idx val="9"/>
        <c:spPr>
          <a:solidFill>
            <a:schemeClr val="accent6"/>
          </a:solidFill>
          <a:ln>
            <a:noFill/>
          </a:ln>
          <a:effectLst/>
        </c:spPr>
        <c:marker>
          <c:symbol val="none"/>
        </c:marker>
      </c:pivotFmt>
    </c:pivotFmts>
    <c:plotArea>
      <c:layout/>
      <c:barChart>
        <c:barDir val="col"/>
        <c:grouping val="clustered"/>
        <c:varyColors val="0"/>
        <c:ser>
          <c:idx val="0"/>
          <c:order val="0"/>
          <c:tx>
            <c:strRef>
              <c:f>'Stores and Category Performance'!$B$3:$B$4</c:f>
              <c:strCache>
                <c:ptCount val="1"/>
                <c:pt idx="0">
                  <c:v>Astoria</c:v>
                </c:pt>
              </c:strCache>
            </c:strRef>
          </c:tx>
          <c:spPr>
            <a:solidFill>
              <a:schemeClr val="accent6"/>
            </a:solidFill>
            <a:ln>
              <a:noFill/>
            </a:ln>
            <a:effectLst/>
          </c:spPr>
          <c:invertIfNegative val="0"/>
          <c:cat>
            <c:strRef>
              <c:f>'Stores and Category Performance'!$A$5:$A$14</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'Stores and Category Performance'!$B$5:$B$14</c:f>
              <c:numCache>
                <c:formatCode>General</c:formatCode>
                <c:ptCount val="9"/>
                <c:pt idx="0">
                  <c:v>3662</c:v>
                </c:pt>
                <c:pt idx="1">
                  <c:v>205</c:v>
                </c:pt>
                <c:pt idx="2">
                  <c:v>8075</c:v>
                </c:pt>
                <c:pt idx="3">
                  <c:v>441</c:v>
                </c:pt>
                <c:pt idx="4">
                  <c:v>1685</c:v>
                </c:pt>
                <c:pt idx="5">
                  <c:v>587</c:v>
                </c:pt>
                <c:pt idx="6">
                  <c:v>304</c:v>
                </c:pt>
                <c:pt idx="7">
                  <c:v>104</c:v>
                </c:pt>
                <c:pt idx="8">
                  <c:v>6494</c:v>
                </c:pt>
              </c:numCache>
            </c:numRef>
          </c:val>
        </c:ser>
        <c:ser>
          <c:idx val="1"/>
          <c:order val="1"/>
          <c:tx>
            <c:strRef>
              <c:f>'Stores and Category Performance'!$C$3:$C$4</c:f>
              <c:strCache>
                <c:ptCount val="1"/>
                <c:pt idx="0">
                  <c:v>Hell's Kitchen</c:v>
                </c:pt>
              </c:strCache>
            </c:strRef>
          </c:tx>
          <c:spPr>
            <a:solidFill>
              <a:schemeClr val="accent5"/>
            </a:solidFill>
            <a:ln>
              <a:noFill/>
            </a:ln>
            <a:effectLst/>
          </c:spPr>
          <c:invertIfNegative val="0"/>
          <c:cat>
            <c:strRef>
              <c:f>'Stores and Category Performance'!$A$5:$A$14</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'Stores and Category Performance'!$C$5:$C$14</c:f>
              <c:numCache>
                <c:formatCode>General</c:formatCode>
                <c:ptCount val="9"/>
                <c:pt idx="0">
                  <c:v>3370</c:v>
                </c:pt>
                <c:pt idx="1">
                  <c:v>100</c:v>
                </c:pt>
                <c:pt idx="2">
                  <c:v>8319</c:v>
                </c:pt>
                <c:pt idx="3">
                  <c:v>616</c:v>
                </c:pt>
                <c:pt idx="4">
                  <c:v>1597</c:v>
                </c:pt>
                <c:pt idx="5">
                  <c:v>936</c:v>
                </c:pt>
                <c:pt idx="6">
                  <c:v>422</c:v>
                </c:pt>
                <c:pt idx="7">
                  <c:v>187</c:v>
                </c:pt>
                <c:pt idx="8">
                  <c:v>6385</c:v>
                </c:pt>
              </c:numCache>
            </c:numRef>
          </c:val>
        </c:ser>
        <c:ser>
          <c:idx val="2"/>
          <c:order val="2"/>
          <c:tx>
            <c:strRef>
              <c:f>'Stores and Category Performance'!$D$3:$D$4</c:f>
              <c:strCache>
                <c:ptCount val="1"/>
                <c:pt idx="0">
                  <c:v>Lower Manhattan</c:v>
                </c:pt>
              </c:strCache>
            </c:strRef>
          </c:tx>
          <c:spPr>
            <a:solidFill>
              <a:schemeClr val="accent4"/>
            </a:solidFill>
            <a:ln>
              <a:noFill/>
            </a:ln>
            <a:effectLst/>
          </c:spPr>
          <c:invertIfNegative val="0"/>
          <c:cat>
            <c:strRef>
              <c:f>'Stores and Category Performance'!$A$5:$A$14</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'Stores and Category Performance'!$D$5:$D$14</c:f>
              <c:numCache>
                <c:formatCode>General</c:formatCode>
                <c:ptCount val="9"/>
                <c:pt idx="0">
                  <c:v>3514</c:v>
                </c:pt>
                <c:pt idx="1">
                  <c:v>268</c:v>
                </c:pt>
                <c:pt idx="2">
                  <c:v>7519</c:v>
                </c:pt>
                <c:pt idx="3">
                  <c:v>447</c:v>
                </c:pt>
                <c:pt idx="4">
                  <c:v>1399</c:v>
                </c:pt>
                <c:pt idx="5">
                  <c:v>1045</c:v>
                </c:pt>
                <c:pt idx="6">
                  <c:v>343</c:v>
                </c:pt>
                <c:pt idx="7">
                  <c:v>155</c:v>
                </c:pt>
                <c:pt idx="8">
                  <c:v>5617</c:v>
                </c:pt>
              </c:numCache>
            </c:numRef>
          </c:val>
        </c:ser>
        <c:dLbls>
          <c:showLegendKey val="0"/>
          <c:showVal val="0"/>
          <c:showCatName val="0"/>
          <c:showSerName val="0"/>
          <c:showPercent val="0"/>
          <c:showBubbleSize val="0"/>
        </c:dLbls>
        <c:gapWidth val="219"/>
        <c:overlap val="-27"/>
        <c:axId val="262398992"/>
        <c:axId val="262396248"/>
      </c:barChart>
      <c:catAx>
        <c:axId val="26239899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Product Categories</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2396248"/>
        <c:crosses val="autoZero"/>
        <c:auto val="1"/>
        <c:lblAlgn val="ctr"/>
        <c:lblOffset val="100"/>
        <c:noMultiLvlLbl val="0"/>
      </c:catAx>
      <c:valAx>
        <c:axId val="2623962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a:t>
                </a:r>
                <a:r>
                  <a:rPr lang="en-US" baseline="0"/>
                  <a:t> of Sales</a:t>
                </a:r>
                <a:endParaRPr lang="en-US"/>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2398992"/>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[Bright_Coffee_Project_Charts and Graphs.xlsx]Revenue per each Month!PivotTable1</c:name>
    <c:fmtId val="1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Monthly Total Revenue </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pivotFmt>
      <c:pivotFmt>
        <c:idx val="1"/>
        <c:spPr>
          <a:solidFill>
            <a:schemeClr val="accent2"/>
          </a:solidFill>
          <a:ln>
            <a:noFill/>
          </a:ln>
          <a:effectLst/>
        </c:spPr>
        <c:marker>
          <c:symbol val="none"/>
        </c:marker>
      </c:pivotFmt>
      <c:pivotFmt>
        <c:idx val="2"/>
        <c:spPr>
          <a:solidFill>
            <a:schemeClr val="accent2"/>
          </a:solidFill>
          <a:ln>
            <a:noFill/>
          </a:ln>
          <a:effectLst/>
        </c:spPr>
        <c:marker>
          <c:symbol val="none"/>
        </c:marker>
      </c:pivotFmt>
    </c:pivotFmts>
    <c:plotArea>
      <c:layout/>
      <c:barChart>
        <c:barDir val="col"/>
        <c:grouping val="clustered"/>
        <c:varyColors val="0"/>
        <c:ser>
          <c:idx val="0"/>
          <c:order val="0"/>
          <c:tx>
            <c:strRef>
              <c:f>'Revenue per each Month'!$B$3</c:f>
              <c:strCache>
                <c:ptCount val="1"/>
                <c:pt idx="0">
                  <c:v>Total</c:v>
                </c:pt>
              </c:strCache>
            </c:strRef>
          </c:tx>
          <c:spPr>
            <a:solidFill>
              <a:schemeClr val="accent2"/>
            </a:solidFill>
            <a:ln>
              <a:noFill/>
            </a:ln>
            <a:effectLst/>
          </c:spPr>
          <c:invertIfNegative val="0"/>
          <c:cat>
            <c:strRef>
              <c:f>'Revenue per each Month'!$A$4:$A$10</c:f>
              <c:strCache>
                <c:ptCount val="6"/>
                <c:pt idx="0">
                  <c:v>Jan</c:v>
                </c:pt>
                <c:pt idx="1">
                  <c:v>Feb</c:v>
                </c:pt>
                <c:pt idx="2">
                  <c:v>Mar</c:v>
                </c:pt>
                <c:pt idx="3">
                  <c:v>Apr</c:v>
                </c:pt>
                <c:pt idx="4">
                  <c:v>May</c:v>
                </c:pt>
                <c:pt idx="5">
                  <c:v>Jun</c:v>
                </c:pt>
              </c:strCache>
            </c:strRef>
          </c:cat>
          <c:val>
            <c:numRef>
              <c:f>'Revenue per each Month'!$B$4:$B$10</c:f>
              <c:numCache>
                <c:formatCode>[$R-1C09]#,##0.00</c:formatCode>
                <c:ptCount val="6"/>
                <c:pt idx="0">
                  <c:v>81677.739999999612</c:v>
                </c:pt>
                <c:pt idx="1">
                  <c:v>76145.189999999682</c:v>
                </c:pt>
                <c:pt idx="2">
                  <c:v>98834.68</c:v>
                </c:pt>
                <c:pt idx="3">
                  <c:v>118941.07999999978</c:v>
                </c:pt>
                <c:pt idx="4">
                  <c:v>156727.76000000033</c:v>
                </c:pt>
                <c:pt idx="5">
                  <c:v>166485.8800000003</c:v>
                </c:pt>
              </c:numCache>
            </c:numRef>
          </c:val>
        </c:ser>
        <c:dLbls>
          <c:showLegendKey val="0"/>
          <c:showVal val="0"/>
          <c:showCatName val="0"/>
          <c:showSerName val="0"/>
          <c:showPercent val="0"/>
          <c:showBubbleSize val="0"/>
        </c:dLbls>
        <c:gapWidth val="150"/>
        <c:axId val="262395856"/>
        <c:axId val="262400560"/>
      </c:barChart>
      <c:catAx>
        <c:axId val="262395856"/>
        <c:scaling>
          <c:orientation val="minMax"/>
        </c:scaling>
        <c:delete val="0"/>
        <c:axPos val="b"/>
        <c:title>
          <c:tx>
            <c:rich>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r>
                  <a:rPr lang="en-US" sz="1100" b="1"/>
                  <a:t>Months</a:t>
                </a:r>
              </a:p>
            </c:rich>
          </c:tx>
          <c:layout/>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2400560"/>
        <c:crosses val="autoZero"/>
        <c:auto val="1"/>
        <c:lblAlgn val="ctr"/>
        <c:lblOffset val="100"/>
        <c:noMultiLvlLbl val="0"/>
      </c:catAx>
      <c:valAx>
        <c:axId val="2624005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r>
                  <a:rPr lang="en-US" sz="1100" b="1"/>
                  <a:t>Revenue</a:t>
                </a:r>
              </a:p>
            </c:rich>
          </c:tx>
          <c:layout/>
          <c:overlay val="0"/>
          <c:spPr>
            <a:noFill/>
            <a:ln>
              <a:noFill/>
            </a:ln>
            <a:effectLst/>
          </c:spPr>
          <c:txPr>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title>
        <c:numFmt formatCode="[$R-1C09]#,##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2395856"/>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w="25400">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[Bright_Coffee_Project_Charts and Graphs.xlsx]Day and Time Groupings!PivotTable1</c:name>
    <c:fmtId val="7"/>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ZA" dirty="0" smtClean="0"/>
              <a:t>Day</a:t>
            </a:r>
            <a:r>
              <a:rPr lang="en-ZA" baseline="0" dirty="0" smtClean="0"/>
              <a:t> and Time Buckets</a:t>
            </a:r>
            <a:endParaRPr lang="en-US" dirty="0"/>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
        <c:idx val="3"/>
        <c:spPr>
          <a:solidFill>
            <a:schemeClr val="accent1"/>
          </a:solidFill>
          <a:ln>
            <a:noFill/>
          </a:ln>
          <a:effectLst/>
        </c:spPr>
        <c:marker>
          <c:symbol val="none"/>
        </c:marker>
      </c:pivotFmt>
      <c:pivotFmt>
        <c:idx val="4"/>
        <c:spPr>
          <a:solidFill>
            <a:schemeClr val="accent1"/>
          </a:solidFill>
          <a:ln>
            <a:noFill/>
          </a:ln>
          <a:effectLst/>
        </c:spPr>
        <c:marker>
          <c:symbol val="none"/>
        </c:marker>
      </c:pivotFmt>
      <c:pivotFmt>
        <c:idx val="5"/>
        <c:spPr>
          <a:solidFill>
            <a:schemeClr val="accent1"/>
          </a:solidFill>
          <a:ln>
            <a:noFill/>
          </a:ln>
          <a:effectLst/>
        </c:spPr>
        <c:marker>
          <c:symbol val="none"/>
        </c:marker>
      </c:pivotFmt>
    </c:pivotFmts>
    <c:plotArea>
      <c:layout/>
      <c:barChart>
        <c:barDir val="bar"/>
        <c:grouping val="clustered"/>
        <c:varyColors val="0"/>
        <c:ser>
          <c:idx val="0"/>
          <c:order val="0"/>
          <c:tx>
            <c:strRef>
              <c:f>'Day and Time Groupings'!$B$3:$B$4</c:f>
              <c:strCache>
                <c:ptCount val="1"/>
                <c:pt idx="0">
                  <c:v>Weekday</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'Day and Time Groupings'!$A$5:$A$8</c:f>
              <c:strCache>
                <c:ptCount val="3"/>
                <c:pt idx="0">
                  <c:v>Afternoon</c:v>
                </c:pt>
                <c:pt idx="1">
                  <c:v>Evenning</c:v>
                </c:pt>
                <c:pt idx="2">
                  <c:v>Morning</c:v>
                </c:pt>
              </c:strCache>
            </c:strRef>
          </c:cat>
          <c:val>
            <c:numRef>
              <c:f>'Day and Time Groupings'!$B$5:$B$8</c:f>
              <c:numCache>
                <c:formatCode>[$R-1C09]#,##0.00</c:formatCode>
                <c:ptCount val="3"/>
                <c:pt idx="0">
                  <c:v>147174.51000000024</c:v>
                </c:pt>
                <c:pt idx="1">
                  <c:v>76334.679999999775</c:v>
                </c:pt>
                <c:pt idx="2">
                  <c:v>280078.35000000207</c:v>
                </c:pt>
              </c:numCache>
            </c:numRef>
          </c:val>
        </c:ser>
        <c:ser>
          <c:idx val="1"/>
          <c:order val="1"/>
          <c:tx>
            <c:strRef>
              <c:f>'Day and Time Groupings'!$C$3:$C$4</c:f>
              <c:strCache>
                <c:ptCount val="1"/>
                <c:pt idx="0">
                  <c:v>Weekend</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'Day and Time Groupings'!$A$5:$A$8</c:f>
              <c:strCache>
                <c:ptCount val="3"/>
                <c:pt idx="0">
                  <c:v>Afternoon</c:v>
                </c:pt>
                <c:pt idx="1">
                  <c:v>Evenning</c:v>
                </c:pt>
                <c:pt idx="2">
                  <c:v>Morning</c:v>
                </c:pt>
              </c:strCache>
            </c:strRef>
          </c:cat>
          <c:val>
            <c:numRef>
              <c:f>'Day and Time Groupings'!$C$5:$C$8</c:f>
              <c:numCache>
                <c:formatCode>[$R-1C09]#,##0.00</c:formatCode>
                <c:ptCount val="3"/>
                <c:pt idx="0">
                  <c:v>57546.319999999832</c:v>
                </c:pt>
                <c:pt idx="1">
                  <c:v>29468.15</c:v>
                </c:pt>
                <c:pt idx="2">
                  <c:v>108210.31999999995</c:v>
                </c:pt>
              </c:numCache>
            </c:numRef>
          </c:val>
        </c:ser>
        <c:dLbls>
          <c:dLblPos val="inEnd"/>
          <c:showLegendKey val="0"/>
          <c:showVal val="1"/>
          <c:showCatName val="0"/>
          <c:showSerName val="0"/>
          <c:showPercent val="0"/>
          <c:showBubbleSize val="0"/>
        </c:dLbls>
        <c:gapWidth val="182"/>
        <c:axId val="262401736"/>
        <c:axId val="262397032"/>
      </c:barChart>
      <c:catAx>
        <c:axId val="262401736"/>
        <c:scaling>
          <c:orientation val="minMax"/>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Day Classifications</a:t>
                </a:r>
              </a:p>
            </c:rich>
          </c:tx>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62397032"/>
        <c:crosses val="autoZero"/>
        <c:auto val="1"/>
        <c:lblAlgn val="ctr"/>
        <c:lblOffset val="100"/>
        <c:noMultiLvlLbl val="0"/>
      </c:catAx>
      <c:valAx>
        <c:axId val="26239703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Revenue Made</a:t>
                </a:r>
              </a:p>
            </c:rich>
          </c:tx>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R-1C09]#,##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62401736"/>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[Bright_Coffee_Project_Charts and Graphs.xlsx]Number of Sales per Month!PivotTable3</c:name>
    <c:fmtId val="3"/>
  </c:pivotSource>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a:t>Sales Per Month</a:t>
            </a:r>
          </a:p>
        </c:rich>
      </c:tx>
      <c:layout/>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round/>
            </a:ln>
            <a:effectLst/>
          </c:spPr>
        </c:marker>
      </c:pivotFmt>
      <c:pivotFmt>
        <c:idx val="2"/>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round/>
            </a:ln>
            <a:effectLst/>
          </c:spPr>
        </c:marker>
      </c:pivotFmt>
      <c:pivotFmt>
        <c:idx val="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round/>
            </a:ln>
            <a:effectLst/>
          </c:spPr>
        </c:marker>
      </c:pivotFmt>
      <c:pivotFmt>
        <c:idx val="4"/>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round/>
            </a:ln>
            <a:effectLst/>
          </c:spPr>
        </c:marker>
      </c:pivotFmt>
      <c:pivotFmt>
        <c:idx val="5"/>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round/>
            </a:ln>
            <a:effectLst/>
          </c:spPr>
        </c:marker>
      </c:pivotFmt>
      <c:pivotFmt>
        <c:idx val="6"/>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round/>
            </a:ln>
            <a:effectLst/>
          </c:spPr>
        </c:marker>
      </c:pivotFmt>
    </c:pivotFmts>
    <c:plotArea>
      <c:layout/>
      <c:lineChart>
        <c:grouping val="standard"/>
        <c:varyColors val="0"/>
        <c:ser>
          <c:idx val="0"/>
          <c:order val="0"/>
          <c:tx>
            <c:strRef>
              <c:f>'Number of Sales per Month'!$B$3:$B$4</c:f>
              <c:strCache>
                <c:ptCount val="1"/>
                <c:pt idx="0">
                  <c:v>Weekday</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dLbls>
            <c:delete val="1"/>
          </c:dLbls>
          <c:cat>
            <c:strRef>
              <c:f>'Number of Sales per Month'!$A$5:$A$11</c:f>
              <c:strCache>
                <c:ptCount val="6"/>
                <c:pt idx="0">
                  <c:v>Jan</c:v>
                </c:pt>
                <c:pt idx="1">
                  <c:v>Feb</c:v>
                </c:pt>
                <c:pt idx="2">
                  <c:v>Mar</c:v>
                </c:pt>
                <c:pt idx="3">
                  <c:v>Apr</c:v>
                </c:pt>
                <c:pt idx="4">
                  <c:v>May</c:v>
                </c:pt>
                <c:pt idx="5">
                  <c:v>Jun</c:v>
                </c:pt>
              </c:strCache>
            </c:strRef>
          </c:cat>
          <c:val>
            <c:numRef>
              <c:f>'Number of Sales per Month'!$B$5:$B$11</c:f>
              <c:numCache>
                <c:formatCode>General</c:formatCode>
                <c:ptCount val="6"/>
                <c:pt idx="0">
                  <c:v>6603</c:v>
                </c:pt>
                <c:pt idx="1">
                  <c:v>6070</c:v>
                </c:pt>
                <c:pt idx="2">
                  <c:v>7669</c:v>
                </c:pt>
                <c:pt idx="3">
                  <c:v>7322</c:v>
                </c:pt>
                <c:pt idx="4">
                  <c:v>9137</c:v>
                </c:pt>
                <c:pt idx="5">
                  <c:v>9034</c:v>
                </c:pt>
              </c:numCache>
            </c:numRef>
          </c:val>
          <c:smooth val="0"/>
        </c:ser>
        <c:ser>
          <c:idx val="1"/>
          <c:order val="1"/>
          <c:tx>
            <c:strRef>
              <c:f>'Number of Sales per Month'!$C$3:$C$4</c:f>
              <c:strCache>
                <c:ptCount val="1"/>
                <c:pt idx="0">
                  <c:v>Weekend</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dLbls>
            <c:delete val="1"/>
          </c:dLbls>
          <c:cat>
            <c:strRef>
              <c:f>'Number of Sales per Month'!$A$5:$A$11</c:f>
              <c:strCache>
                <c:ptCount val="6"/>
                <c:pt idx="0">
                  <c:v>Jan</c:v>
                </c:pt>
                <c:pt idx="1">
                  <c:v>Feb</c:v>
                </c:pt>
                <c:pt idx="2">
                  <c:v>Mar</c:v>
                </c:pt>
                <c:pt idx="3">
                  <c:v>Apr</c:v>
                </c:pt>
                <c:pt idx="4">
                  <c:v>May</c:v>
                </c:pt>
                <c:pt idx="5">
                  <c:v>Jun</c:v>
                </c:pt>
              </c:strCache>
            </c:strRef>
          </c:cat>
          <c:val>
            <c:numRef>
              <c:f>'Number of Sales per Month'!$C$5:$C$11</c:f>
              <c:numCache>
                <c:formatCode>General</c:formatCode>
                <c:ptCount val="6"/>
                <c:pt idx="0">
                  <c:v>2698</c:v>
                </c:pt>
                <c:pt idx="1">
                  <c:v>2492</c:v>
                </c:pt>
                <c:pt idx="2">
                  <c:v>2685</c:v>
                </c:pt>
                <c:pt idx="3">
                  <c:v>3631</c:v>
                </c:pt>
                <c:pt idx="4">
                  <c:v>3191</c:v>
                </c:pt>
                <c:pt idx="5">
                  <c:v>3264</c:v>
                </c:pt>
              </c:numCache>
            </c:numRef>
          </c:val>
          <c:smooth val="0"/>
        </c:ser>
        <c:dLbls>
          <c:dLblPos val="t"/>
          <c:showLegendKey val="0"/>
          <c:showVal val="1"/>
          <c:showCatName val="0"/>
          <c:showSerName val="0"/>
          <c:showPercent val="0"/>
          <c:showBubbleSize val="0"/>
        </c:dLbls>
        <c:marker val="1"/>
        <c:smooth val="0"/>
        <c:axId val="262400952"/>
        <c:axId val="262397816"/>
      </c:lineChart>
      <c:catAx>
        <c:axId val="26240095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a:t>Months</a:t>
                </a:r>
              </a:p>
            </c:rich>
          </c:tx>
          <c:layout/>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262397816"/>
        <c:crosses val="autoZero"/>
        <c:auto val="1"/>
        <c:lblAlgn val="ctr"/>
        <c:lblOffset val="100"/>
        <c:noMultiLvlLbl val="0"/>
      </c:catAx>
      <c:valAx>
        <c:axId val="262397816"/>
        <c:scaling>
          <c:orientation val="minMax"/>
        </c:scaling>
        <c:delete val="0"/>
        <c:axPos val="l"/>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a:t>Number of Sales </a:t>
                </a:r>
              </a:p>
            </c:rich>
          </c:tx>
          <c:layout/>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62400952"/>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[Bright_Coffee_Project_Charts and Graphs.xlsx]Day Revenue!PivotTable7</c:name>
    <c:fmtId val="3"/>
  </c:pivotSource>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a:t>Day and Time Performance</a:t>
            </a:r>
          </a:p>
        </c:rich>
      </c:tx>
      <c:layout/>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round/>
            </a:ln>
            <a:effectLst/>
          </c:spPr>
        </c:marker>
      </c:pivotFmt>
      <c:pivotFmt>
        <c:idx val="1"/>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round/>
            </a:ln>
            <a:effectLst/>
          </c:spPr>
        </c:marker>
      </c:pivotFmt>
      <c:pivotFmt>
        <c:idx val="2"/>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round/>
            </a:ln>
            <a:effectLst/>
          </c:spPr>
        </c:marker>
      </c:pivotFmt>
      <c:pivotFmt>
        <c:idx val="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round/>
            </a:ln>
            <a:effectLst/>
          </c:spPr>
        </c:marker>
      </c:pivotFmt>
      <c:pivotFmt>
        <c:idx val="4"/>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round/>
            </a:ln>
            <a:effectLst/>
          </c:spPr>
        </c:marker>
      </c:pivotFmt>
      <c:pivotFmt>
        <c:idx val="5"/>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round/>
            </a:ln>
            <a:effectLst/>
          </c:spPr>
        </c:marker>
      </c:pivotFmt>
      <c:pivotFmt>
        <c:idx val="6"/>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round/>
            </a:ln>
            <a:effectLst/>
          </c:spPr>
        </c:marker>
      </c:pivotFmt>
      <c:pivotFmt>
        <c:idx val="7"/>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round/>
            </a:ln>
            <a:effectLst/>
          </c:spPr>
        </c:marker>
      </c:pivotFmt>
      <c:pivotFmt>
        <c:idx val="8"/>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round/>
            </a:ln>
            <a:effectLst/>
          </c:spPr>
        </c:marker>
      </c:pivotFmt>
    </c:pivotFmts>
    <c:plotArea>
      <c:layout/>
      <c:lineChart>
        <c:grouping val="standard"/>
        <c:varyColors val="0"/>
        <c:ser>
          <c:idx val="0"/>
          <c:order val="0"/>
          <c:tx>
            <c:strRef>
              <c:f>'Day Revenue'!$B$3:$B$4</c:f>
              <c:strCache>
                <c:ptCount val="1"/>
                <c:pt idx="0">
                  <c:v>Afternoon</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strRef>
              <c:f>'Day Revenue'!$A$5:$A$12</c:f>
              <c:strCache>
                <c:ptCount val="7"/>
                <c:pt idx="0">
                  <c:v>Sun</c:v>
                </c:pt>
                <c:pt idx="1">
                  <c:v>Mon</c:v>
                </c:pt>
                <c:pt idx="2">
                  <c:v>Tue</c:v>
                </c:pt>
                <c:pt idx="3">
                  <c:v>Wed</c:v>
                </c:pt>
                <c:pt idx="4">
                  <c:v>Thu</c:v>
                </c:pt>
                <c:pt idx="5">
                  <c:v>Fri</c:v>
                </c:pt>
                <c:pt idx="6">
                  <c:v>Sat</c:v>
                </c:pt>
              </c:strCache>
            </c:strRef>
          </c:cat>
          <c:val>
            <c:numRef>
              <c:f>'Day Revenue'!$B$5:$B$12</c:f>
              <c:numCache>
                <c:formatCode>[$R-1C09]#,##0.00</c:formatCode>
                <c:ptCount val="7"/>
                <c:pt idx="0">
                  <c:v>28640.000000000011</c:v>
                </c:pt>
                <c:pt idx="1">
                  <c:v>30673.66000000004</c:v>
                </c:pt>
                <c:pt idx="2">
                  <c:v>27813.680000000011</c:v>
                </c:pt>
                <c:pt idx="3">
                  <c:v>29259.989999999983</c:v>
                </c:pt>
                <c:pt idx="4">
                  <c:v>30648.810000000009</c:v>
                </c:pt>
                <c:pt idx="5">
                  <c:v>28778.370000000021</c:v>
                </c:pt>
                <c:pt idx="6">
                  <c:v>28906.320000000011</c:v>
                </c:pt>
              </c:numCache>
            </c:numRef>
          </c:val>
          <c:smooth val="0"/>
        </c:ser>
        <c:ser>
          <c:idx val="1"/>
          <c:order val="1"/>
          <c:tx>
            <c:strRef>
              <c:f>'Day Revenue'!$C$3:$C$4</c:f>
              <c:strCache>
                <c:ptCount val="1"/>
                <c:pt idx="0">
                  <c:v>Evenning</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strRef>
              <c:f>'Day Revenue'!$A$5:$A$12</c:f>
              <c:strCache>
                <c:ptCount val="7"/>
                <c:pt idx="0">
                  <c:v>Sun</c:v>
                </c:pt>
                <c:pt idx="1">
                  <c:v>Mon</c:v>
                </c:pt>
                <c:pt idx="2">
                  <c:v>Tue</c:v>
                </c:pt>
                <c:pt idx="3">
                  <c:v>Wed</c:v>
                </c:pt>
                <c:pt idx="4">
                  <c:v>Thu</c:v>
                </c:pt>
                <c:pt idx="5">
                  <c:v>Fri</c:v>
                </c:pt>
                <c:pt idx="6">
                  <c:v>Sat</c:v>
                </c:pt>
              </c:strCache>
            </c:strRef>
          </c:cat>
          <c:val>
            <c:numRef>
              <c:f>'Day Revenue'!$C$5:$C$12</c:f>
              <c:numCache>
                <c:formatCode>[$R-1C09]#,##0.00</c:formatCode>
                <c:ptCount val="7"/>
                <c:pt idx="0">
                  <c:v>14971.460000000006</c:v>
                </c:pt>
                <c:pt idx="1">
                  <c:v>15279.160000000009</c:v>
                </c:pt>
                <c:pt idx="2">
                  <c:v>14566.55000000001</c:v>
                </c:pt>
                <c:pt idx="3">
                  <c:v>15075.280000000026</c:v>
                </c:pt>
                <c:pt idx="4">
                  <c:v>16070.980000000012</c:v>
                </c:pt>
                <c:pt idx="5">
                  <c:v>15342.710000000015</c:v>
                </c:pt>
                <c:pt idx="6">
                  <c:v>14496.689999999999</c:v>
                </c:pt>
              </c:numCache>
            </c:numRef>
          </c:val>
          <c:smooth val="0"/>
        </c:ser>
        <c:ser>
          <c:idx val="2"/>
          <c:order val="2"/>
          <c:tx>
            <c:strRef>
              <c:f>'Day Revenue'!$D$3:$D$4</c:f>
              <c:strCache>
                <c:ptCount val="1"/>
                <c:pt idx="0">
                  <c:v>Morning</c:v>
                </c:pt>
              </c:strCache>
            </c:strRef>
          </c:tx>
          <c:spPr>
            <a:ln w="22225" cap="rnd">
              <a:solidFill>
                <a:schemeClr val="accent3"/>
              </a:solidFill>
              <a:round/>
            </a:ln>
            <a:effectLst/>
          </c:spPr>
          <c:marker>
            <c:symbol val="triangle"/>
            <c:size val="6"/>
            <c:spPr>
              <a:solidFill>
                <a:schemeClr val="accent3"/>
              </a:solidFill>
              <a:ln w="9525">
                <a:solidFill>
                  <a:schemeClr val="accent3"/>
                </a:solidFill>
                <a:round/>
              </a:ln>
              <a:effectLst/>
            </c:spPr>
          </c:marker>
          <c:cat>
            <c:strRef>
              <c:f>'Day Revenue'!$A$5:$A$12</c:f>
              <c:strCache>
                <c:ptCount val="7"/>
                <c:pt idx="0">
                  <c:v>Sun</c:v>
                </c:pt>
                <c:pt idx="1">
                  <c:v>Mon</c:v>
                </c:pt>
                <c:pt idx="2">
                  <c:v>Tue</c:v>
                </c:pt>
                <c:pt idx="3">
                  <c:v>Wed</c:v>
                </c:pt>
                <c:pt idx="4">
                  <c:v>Thu</c:v>
                </c:pt>
                <c:pt idx="5">
                  <c:v>Fri</c:v>
                </c:pt>
                <c:pt idx="6">
                  <c:v>Sat</c:v>
                </c:pt>
              </c:strCache>
            </c:strRef>
          </c:cat>
          <c:val>
            <c:numRef>
              <c:f>'Day Revenue'!$D$5:$D$12</c:f>
              <c:numCache>
                <c:formatCode>[$R-1C09]#,##0.00</c:formatCode>
                <c:ptCount val="7"/>
                <c:pt idx="0">
                  <c:v>54718.849999999969</c:v>
                </c:pt>
                <c:pt idx="1">
                  <c:v>55724.459999999897</c:v>
                </c:pt>
                <c:pt idx="2">
                  <c:v>57075.709999999897</c:v>
                </c:pt>
                <c:pt idx="3">
                  <c:v>55978.26999999996</c:v>
                </c:pt>
                <c:pt idx="4">
                  <c:v>54047.989999999932</c:v>
                </c:pt>
                <c:pt idx="5">
                  <c:v>57251.919999999947</c:v>
                </c:pt>
                <c:pt idx="6">
                  <c:v>53491.469999999987</c:v>
                </c:pt>
              </c:numCache>
            </c:numRef>
          </c:val>
          <c:smooth val="0"/>
        </c:ser>
        <c:dLbls>
          <c:showLegendKey val="0"/>
          <c:showVal val="0"/>
          <c:showCatName val="0"/>
          <c:showSerName val="0"/>
          <c:showPercent val="0"/>
          <c:showBubbleSize val="0"/>
        </c:dLbls>
        <c:marker val="1"/>
        <c:smooth val="0"/>
        <c:axId val="262402520"/>
        <c:axId val="262398600"/>
      </c:lineChart>
      <c:catAx>
        <c:axId val="26240252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a:t>Days of the Week</a:t>
                </a:r>
              </a:p>
            </c:rich>
          </c:tx>
          <c:layout/>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262398600"/>
        <c:crosses val="autoZero"/>
        <c:auto val="1"/>
        <c:lblAlgn val="ctr"/>
        <c:lblOffset val="100"/>
        <c:noMultiLvlLbl val="0"/>
      </c:catAx>
      <c:valAx>
        <c:axId val="262398600"/>
        <c:scaling>
          <c:orientation val="minMax"/>
        </c:scaling>
        <c:delete val="0"/>
        <c:axPos val="l"/>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a:t>Sales Revenue </a:t>
                </a:r>
              </a:p>
            </c:rich>
          </c:tx>
          <c:layout/>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R-1C09]#,##0.00"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62402520"/>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[Bright_Coffee_Project_Charts and Graphs.xlsx]Stores Performance!PivotTable4</c:name>
    <c:fmtId val="4"/>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smtClean="0"/>
              <a:t>Store</a:t>
            </a:r>
            <a:r>
              <a:rPr lang="en-US" baseline="0" dirty="0" smtClean="0"/>
              <a:t> Performance</a:t>
            </a:r>
            <a:endParaRPr lang="en-US" dirty="0"/>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'Stores Performance'!$B$3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'Stores Performance'!$A$4:$A$7</c:f>
              <c:strCache>
                <c:ptCount val="3"/>
                <c:pt idx="0">
                  <c:v>Astoria</c:v>
                </c:pt>
                <c:pt idx="1">
                  <c:v>Hell's Kitchen</c:v>
                </c:pt>
                <c:pt idx="2">
                  <c:v>Lower Manhattan</c:v>
                </c:pt>
              </c:strCache>
            </c:strRef>
          </c:cat>
          <c:val>
            <c:numRef>
              <c:f>'Stores Performance'!$B$4:$B$7</c:f>
              <c:numCache>
                <c:formatCode>General</c:formatCode>
                <c:ptCount val="3"/>
                <c:pt idx="0">
                  <c:v>21557</c:v>
                </c:pt>
                <c:pt idx="1">
                  <c:v>21932</c:v>
                </c:pt>
                <c:pt idx="2">
                  <c:v>20307</c:v>
                </c:pt>
              </c:numCache>
            </c:numRef>
          </c:val>
        </c:ser>
        <c:dLbls>
          <c:dLblPos val="outEnd"/>
          <c:showLegendKey val="0"/>
          <c:showVal val="1"/>
          <c:showCatName val="0"/>
          <c:showSerName val="0"/>
          <c:showPercent val="0"/>
          <c:showBubbleSize val="0"/>
        </c:dLbls>
        <c:gapWidth val="219"/>
        <c:overlap val="-27"/>
        <c:axId val="262399384"/>
        <c:axId val="423619120"/>
      </c:barChart>
      <c:catAx>
        <c:axId val="262399384"/>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ZA" dirty="0" smtClean="0"/>
                  <a:t>Stores</a:t>
                </a:r>
                <a:endParaRPr lang="en-US" dirty="0"/>
              </a:p>
            </c:rich>
          </c:tx>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23619120"/>
        <c:crosses val="autoZero"/>
        <c:auto val="1"/>
        <c:lblAlgn val="ctr"/>
        <c:lblOffset val="100"/>
        <c:noMultiLvlLbl val="0"/>
      </c:catAx>
      <c:valAx>
        <c:axId val="4236191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smtClean="0"/>
                  <a:t>Sales</a:t>
                </a:r>
                <a:r>
                  <a:rPr lang="en-US" baseline="0" dirty="0" smtClean="0"/>
                  <a:t> Made</a:t>
                </a:r>
                <a:endParaRPr lang="en-US" dirty="0"/>
              </a:p>
            </c:rich>
          </c:tx>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62399384"/>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8">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7C290E50-D3EA-4329-AA5F-AF5A5C575D8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E6112D18-5CEB-46F3-924F-E35464AAA36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35D1AD-E24C-4E82-BC85-28527A42DCE7}" type="datetimeFigureOut">
              <a:rPr lang="en-US" smtClean="0"/>
              <a:t>3/31/2026</a:t>
            </a:fld>
            <a:endParaRPr lang="en-US" dirty="0"/>
          </a:p>
        </p:txBody>
      </p:sp>
      <p:sp>
        <p:nvSpPr>
          <p:cNvPr id="4" name="Footer Placeholder 3">
            <a:extLst>
              <a:ext uri="{FF2B5EF4-FFF2-40B4-BE49-F238E27FC236}">
                <a16:creationId xmlns:a16="http://schemas.microsoft.com/office/drawing/2014/main" xmlns="" id="{EB8FC0ED-2712-4B69-9F16-123F02DBF5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32CBD00C-2269-4424-828A-8D893B52266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70B3793-D85E-4082-925C-FAA1A2B27276}" type="slidenum">
              <a:rPr lang="en-US" smtClean="0"/>
              <a:t>‹#›</a:t>
            </a:fld>
            <a:endParaRPr lang="en-US" dirty="0"/>
          </a:p>
        </p:txBody>
      </p:sp>
    </p:spTree>
    <p:extLst>
      <p:ext uri="{BB962C8B-B14F-4D97-AF65-F5344CB8AC3E}">
        <p14:creationId xmlns:p14="http://schemas.microsoft.com/office/powerpoint/2010/main" val="22338639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55EA34-3951-4B6D-8DDD-B157CE00471C}" type="datetimeFigureOut">
              <a:rPr lang="en-US" smtClean="0"/>
              <a:t>3/31/2026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B3E965-974B-498D-B360-83DD1F9DEB55}" type="slidenum">
              <a:rPr lang="en-US" smtClean="0"/>
              <a:t>‹#›</a:t>
            </a:fld>
            <a:endParaRPr lang="en-US" dirty="0"/>
          </a:p>
        </p:txBody>
      </p:sp>
    </p:spTree>
    <p:extLst>
      <p:ext uri="{BB962C8B-B14F-4D97-AF65-F5344CB8AC3E}">
        <p14:creationId xmlns:p14="http://schemas.microsoft.com/office/powerpoint/2010/main" val="2383636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1</a:t>
            </a:fld>
            <a:endParaRPr lang="en-US" dirty="0"/>
          </a:p>
        </p:txBody>
      </p:sp>
    </p:spTree>
    <p:extLst>
      <p:ext uri="{BB962C8B-B14F-4D97-AF65-F5344CB8AC3E}">
        <p14:creationId xmlns:p14="http://schemas.microsoft.com/office/powerpoint/2010/main" val="2289652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15</a:t>
            </a:fld>
            <a:endParaRPr lang="en-US" dirty="0"/>
          </a:p>
        </p:txBody>
      </p:sp>
    </p:spTree>
    <p:extLst>
      <p:ext uri="{BB962C8B-B14F-4D97-AF65-F5344CB8AC3E}">
        <p14:creationId xmlns:p14="http://schemas.microsoft.com/office/powerpoint/2010/main" val="2452642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noProof="0" smtClean="0"/>
              <a:t>Click to edit Master title style</a:t>
            </a:r>
            <a:endParaRPr lang="en-US" noProof="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smtClean="0"/>
              <a:t>Click to edit Master subtitle style</a:t>
            </a:r>
            <a:endParaRPr lang="en-US" noProof="0"/>
          </a:p>
        </p:txBody>
      </p:sp>
      <p:sp>
        <p:nvSpPr>
          <p:cNvPr id="4" name="Date Placeholder 3"/>
          <p:cNvSpPr>
            <a:spLocks noGrp="1"/>
          </p:cNvSpPr>
          <p:nvPr>
            <p:ph type="dt" sz="half" idx="10"/>
          </p:nvPr>
        </p:nvSpPr>
        <p:spPr/>
        <p:txBody>
          <a:bodyPr/>
          <a:lstStyle>
            <a:lvl1pPr algn="l">
              <a:defRPr/>
            </a:lvl1pPr>
          </a:lstStyle>
          <a:p>
            <a:fld id="{9AB3A824-1A51-4B26-AD58-A6D8E14F6C04}" type="datetimeFigureOut">
              <a:rPr lang="en-US" noProof="0" smtClean="0"/>
              <a:t>3/31/2026</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51507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smtClean="0"/>
              <a:t>Click to edit Master title style</a:t>
            </a:r>
            <a:endParaRPr lang="en-US" noProof="0"/>
          </a:p>
        </p:txBody>
      </p:sp>
      <p:sp>
        <p:nvSpPr>
          <p:cNvPr id="3" name="Content Placeholder 2"/>
          <p:cNvSpPr>
            <a:spLocks noGrp="1"/>
          </p:cNvSpPr>
          <p:nvPr>
            <p:ph idx="1"/>
          </p:nvPr>
        </p:nvSpPr>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fld id="{97D162C4-EDD9-4389-A98B-B87ECEA2A816}" type="datetimeFigureOut">
              <a:rPr lang="en-US" noProof="0" smtClean="0"/>
              <a:t>3/31/2026</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2230645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noProof="0" smtClean="0"/>
              <a:t>Click to edit Master title style</a:t>
            </a:r>
            <a:endParaRPr lang="en-US" noProof="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smtClean="0"/>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noProof="0" smtClean="0"/>
              <a:t>3/31/2026</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7646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noProof="0" smtClean="0"/>
              <a:t>Click to edit Master title style</a:t>
            </a:r>
            <a:endParaRPr lang="en-US" noProof="0"/>
          </a:p>
        </p:txBody>
      </p:sp>
      <p:sp>
        <p:nvSpPr>
          <p:cNvPr id="3" name="Content Placeholder 2"/>
          <p:cNvSpPr>
            <a:spLocks noGrp="1"/>
          </p:cNvSpPr>
          <p:nvPr>
            <p:ph sz="half" idx="1"/>
          </p:nvPr>
        </p:nvSpPr>
        <p:spPr>
          <a:xfrm>
            <a:off x="1024127" y="2286000"/>
            <a:ext cx="4754880" cy="4023360"/>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5989320" y="2286000"/>
            <a:ext cx="4754880" cy="4023360"/>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fld id="{CA954B2F-12DE-47F5-8894-472B206D2E1E}" type="datetimeFigureOut">
              <a:rPr lang="en-US" noProof="0" smtClean="0"/>
              <a:t>3/31/2026</a:t>
            </a:fld>
            <a:endParaRPr lang="en-US" noProof="0" dirty="0"/>
          </a:p>
        </p:txBody>
      </p:sp>
      <p:sp>
        <p:nvSpPr>
          <p:cNvPr id="6" name="Footer Placeholder 5"/>
          <p:cNvSpPr>
            <a:spLocks noGrp="1"/>
          </p:cNvSpPr>
          <p:nvPr>
            <p:ph type="ftr" sz="quarter" idx="11"/>
          </p:nvPr>
        </p:nvSpPr>
        <p:spPr/>
        <p:txBody>
          <a:bodyPr/>
          <a:lstStyle/>
          <a:p>
            <a:r>
              <a:rPr lang="en-US" noProof="0" dirty="0"/>
              <a:t>
              </a:t>
            </a:r>
          </a:p>
        </p:txBody>
      </p:sp>
      <p:sp>
        <p:nvSpPr>
          <p:cNvPr id="7" name="Slide Number Placeholder 6"/>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3279582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3/31/2026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05863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3/31/2026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89618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3/31/2026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03964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3/31/2026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33651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3/31/2026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8804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3/31/2026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47278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3/31/2026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8959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CBC1C18-307B-4F68-A007-B5B542270E8D}" type="datetimeFigureOut">
              <a:rPr lang="en-US" noProof="0" smtClean="0"/>
              <a:t>3/31/2026</a:t>
            </a:fld>
            <a:endParaRPr lang="en-US" noProof="0"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noProof="0" dirty="0"/>
              <a:t>
              </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D22F896-40B5-4ADD-8801-0D06FADFA095}" type="slidenum">
              <a:rPr lang="en-US" noProof="0" smtClean="0"/>
              <a:pPr/>
              <a:t>‹#›</a:t>
            </a:fld>
            <a:endParaRPr lang="en-US" noProof="0" dirty="0"/>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02846"/>
      </p:ext>
    </p:extLst>
  </p:cSld>
  <p:clrMap bg1="dk1" tx1="lt1" bg2="dk2" tx2="lt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xmlns="" id="{B8D726A5-7900-41B4-8D49-49B4A2010E7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Coffee Beans">
            <a:extLst>
              <a:ext uri="{FF2B5EF4-FFF2-40B4-BE49-F238E27FC236}">
                <a16:creationId xmlns:a16="http://schemas.microsoft.com/office/drawing/2014/main" xmlns="" id="{291BDB91-E757-4677-A38C-EB354240C835}"/>
              </a:ext>
            </a:extLst>
          </p:cNvPr>
          <p:cNvPicPr>
            <a:picLocks noChangeAspect="1"/>
          </p:cNvPicPr>
          <p:nvPr/>
        </p:nvPicPr>
        <p:blipFill rotWithShape="1">
          <a:blip r:embed="rId3" cstate="screen">
            <a:alphaModFix amt="45000"/>
            <a:extLst>
              <a:ext uri="{28A0092B-C50C-407E-A947-70E740481C1C}">
                <a14:useLocalDpi xmlns:a14="http://schemas.microsoft.com/office/drawing/2010/main"/>
              </a:ext>
            </a:extLst>
          </a:blip>
          <a:srcRect r="25"/>
          <a:stretch/>
        </p:blipFill>
        <p:spPr>
          <a:xfrm>
            <a:off x="20" y="-1"/>
            <a:ext cx="12188932" cy="6858000"/>
          </a:xfrm>
          <a:prstGeom prst="rect">
            <a:avLst/>
          </a:prstGeom>
        </p:spPr>
      </p:pic>
      <p:sp>
        <p:nvSpPr>
          <p:cNvPr id="2" name="Title 1">
            <a:extLst>
              <a:ext uri="{FF2B5EF4-FFF2-40B4-BE49-F238E27FC236}">
                <a16:creationId xmlns:a16="http://schemas.microsoft.com/office/drawing/2014/main" xmlns="" id="{050E78D6-F072-48E7-8270-20EFBDD26F36}"/>
              </a:ext>
            </a:extLst>
          </p:cNvPr>
          <p:cNvSpPr>
            <a:spLocks noGrp="1"/>
          </p:cNvSpPr>
          <p:nvPr>
            <p:ph type="ctrTitle"/>
          </p:nvPr>
        </p:nvSpPr>
        <p:spPr>
          <a:xfrm>
            <a:off x="643467" y="643467"/>
            <a:ext cx="7164674" cy="5571066"/>
          </a:xfrm>
          <a:prstGeom prst="rect">
            <a:avLst/>
          </a:prstGeom>
        </p:spPr>
        <p:txBody>
          <a:bodyPr lIns="0" rIns="180000">
            <a:normAutofit/>
          </a:bodyPr>
          <a:lstStyle/>
          <a:p>
            <a:r>
              <a:rPr lang="en-US" sz="7200" b="1" dirty="0" smtClean="0">
                <a:solidFill>
                  <a:schemeClr val="tx1"/>
                </a:solidFill>
              </a:rPr>
              <a:t>BRIGHT  </a:t>
            </a:r>
            <a:r>
              <a:rPr lang="en-US" sz="7200" b="1" dirty="0">
                <a:solidFill>
                  <a:schemeClr val="tx1"/>
                </a:solidFill>
              </a:rPr>
              <a:t/>
            </a:r>
            <a:br>
              <a:rPr lang="en-US" sz="7200" b="1" dirty="0">
                <a:solidFill>
                  <a:schemeClr val="tx1"/>
                </a:solidFill>
              </a:rPr>
            </a:br>
            <a:r>
              <a:rPr lang="en-US" sz="7200" b="1" dirty="0" smtClean="0">
                <a:solidFill>
                  <a:schemeClr val="tx1"/>
                </a:solidFill>
              </a:rPr>
              <a:t>Coffee </a:t>
            </a:r>
            <a:r>
              <a:rPr lang="en-US" sz="7200" b="1" dirty="0">
                <a:solidFill>
                  <a:schemeClr val="tx1"/>
                </a:solidFill>
              </a:rPr>
              <a:t/>
            </a:r>
            <a:br>
              <a:rPr lang="en-US" sz="7200" b="1" dirty="0">
                <a:solidFill>
                  <a:schemeClr val="tx1"/>
                </a:solidFill>
              </a:rPr>
            </a:br>
            <a:r>
              <a:rPr lang="en-US" sz="7200" b="1" dirty="0" smtClean="0">
                <a:solidFill>
                  <a:schemeClr val="tx1"/>
                </a:solidFill>
              </a:rPr>
              <a:t>SHOP</a:t>
            </a:r>
            <a:endParaRPr lang="en-US" sz="7200" b="1" dirty="0">
              <a:solidFill>
                <a:schemeClr val="tx1"/>
              </a:solidFill>
            </a:endParaRPr>
          </a:p>
        </p:txBody>
      </p:sp>
      <p:sp>
        <p:nvSpPr>
          <p:cNvPr id="3" name="Subtitle 2">
            <a:extLst>
              <a:ext uri="{FF2B5EF4-FFF2-40B4-BE49-F238E27FC236}">
                <a16:creationId xmlns:a16="http://schemas.microsoft.com/office/drawing/2014/main" xmlns="" id="{3FC7BD98-5486-489C-BAA0-A69CEFF691B3}"/>
              </a:ext>
            </a:extLst>
          </p:cNvPr>
          <p:cNvSpPr>
            <a:spLocks noGrp="1"/>
          </p:cNvSpPr>
          <p:nvPr>
            <p:ph type="subTitle" idx="1"/>
          </p:nvPr>
        </p:nvSpPr>
        <p:spPr>
          <a:xfrm>
            <a:off x="8451608" y="643467"/>
            <a:ext cx="3096926" cy="5571066"/>
          </a:xfrm>
          <a:prstGeom prst="rect">
            <a:avLst/>
          </a:prstGeom>
        </p:spPr>
        <p:txBody>
          <a:bodyPr lIns="0" rIns="0">
            <a:normAutofit/>
          </a:bodyPr>
          <a:lstStyle/>
          <a:p>
            <a:r>
              <a:rPr lang="en-US" sz="2800" dirty="0" smtClean="0">
                <a:solidFill>
                  <a:schemeClr val="tx1"/>
                </a:solidFill>
              </a:rPr>
              <a:t>Sales Analysis </a:t>
            </a:r>
            <a:endParaRPr lang="en-US" sz="2800" dirty="0">
              <a:solidFill>
                <a:schemeClr val="tx1"/>
              </a:solidFill>
            </a:endParaRPr>
          </a:p>
          <a:p>
            <a:r>
              <a:rPr lang="en-US" sz="2800" dirty="0" smtClean="0">
                <a:solidFill>
                  <a:schemeClr val="tx1"/>
                </a:solidFill>
              </a:rPr>
              <a:t>Presentation</a:t>
            </a:r>
            <a:endParaRPr lang="en-US" sz="2800" dirty="0">
              <a:solidFill>
                <a:schemeClr val="tx1"/>
              </a:solidFill>
            </a:endParaRPr>
          </a:p>
        </p:txBody>
      </p:sp>
      <p:cxnSp>
        <p:nvCxnSpPr>
          <p:cNvPr id="20" name="Straight Connector 19">
            <a:extLst>
              <a:ext uri="{FF2B5EF4-FFF2-40B4-BE49-F238E27FC236}">
                <a16:creationId xmlns:a16="http://schemas.microsoft.com/office/drawing/2014/main" xmlns="" id="{46E49661-E258-450C-8150-A91A6B30D1C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139605" y="1828800"/>
            <a:ext cx="0" cy="320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4050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Contents</a:t>
            </a:r>
            <a:endParaRPr lang="en-US" dirty="0"/>
          </a:p>
        </p:txBody>
      </p:sp>
      <p:sp>
        <p:nvSpPr>
          <p:cNvPr id="3" name="Content Placeholder 2"/>
          <p:cNvSpPr>
            <a:spLocks noGrp="1"/>
          </p:cNvSpPr>
          <p:nvPr>
            <p:ph idx="1"/>
          </p:nvPr>
        </p:nvSpPr>
        <p:spPr/>
        <p:txBody>
          <a:bodyPr>
            <a:normAutofit fontScale="70000" lnSpcReduction="20000"/>
          </a:bodyPr>
          <a:lstStyle/>
          <a:p>
            <a:pPr>
              <a:buFont typeface="Arial" panose="020B0604020202020204" pitchFamily="34" charset="0"/>
              <a:buChar char="•"/>
            </a:pPr>
            <a:r>
              <a:rPr lang="en-ZA" dirty="0" smtClean="0"/>
              <a:t> Introduction</a:t>
            </a:r>
          </a:p>
          <a:p>
            <a:pPr>
              <a:buFont typeface="Arial" panose="020B0604020202020204" pitchFamily="34" charset="0"/>
              <a:buChar char="•"/>
            </a:pPr>
            <a:r>
              <a:rPr lang="en-ZA" dirty="0" smtClean="0"/>
              <a:t> Revenue Made</a:t>
            </a:r>
          </a:p>
          <a:p>
            <a:pPr>
              <a:buFont typeface="Arial" panose="020B0604020202020204" pitchFamily="34" charset="0"/>
              <a:buChar char="•"/>
            </a:pPr>
            <a:r>
              <a:rPr lang="en-ZA" dirty="0" smtClean="0"/>
              <a:t> Revenue per Month</a:t>
            </a:r>
          </a:p>
          <a:p>
            <a:pPr>
              <a:buFont typeface="Arial" panose="020B0604020202020204" pitchFamily="34" charset="0"/>
              <a:buChar char="•"/>
            </a:pPr>
            <a:r>
              <a:rPr lang="en-ZA" dirty="0" smtClean="0"/>
              <a:t> Day and Time Groupings</a:t>
            </a:r>
          </a:p>
          <a:p>
            <a:pPr>
              <a:buFont typeface="Arial" panose="020B0604020202020204" pitchFamily="34" charset="0"/>
              <a:buChar char="•"/>
            </a:pPr>
            <a:r>
              <a:rPr lang="en-ZA" dirty="0" smtClean="0"/>
              <a:t> Number of Sales per Month</a:t>
            </a:r>
          </a:p>
          <a:p>
            <a:pPr>
              <a:buFont typeface="Arial" panose="020B0604020202020204" pitchFamily="34" charset="0"/>
              <a:buChar char="•"/>
            </a:pPr>
            <a:r>
              <a:rPr lang="en-ZA" dirty="0" smtClean="0"/>
              <a:t> Day Revenue</a:t>
            </a:r>
          </a:p>
          <a:p>
            <a:pPr>
              <a:buFont typeface="Arial" panose="020B0604020202020204" pitchFamily="34" charset="0"/>
              <a:buChar char="•"/>
            </a:pPr>
            <a:r>
              <a:rPr lang="en-ZA" dirty="0" smtClean="0"/>
              <a:t> Time Buckets</a:t>
            </a:r>
          </a:p>
          <a:p>
            <a:pPr>
              <a:buFont typeface="Arial" panose="020B0604020202020204" pitchFamily="34" charset="0"/>
              <a:buChar char="•"/>
            </a:pPr>
            <a:r>
              <a:rPr lang="en-ZA" dirty="0" smtClean="0"/>
              <a:t> Charts for Category Revenue</a:t>
            </a:r>
          </a:p>
          <a:p>
            <a:pPr>
              <a:buFont typeface="Arial" panose="020B0604020202020204" pitchFamily="34" charset="0"/>
              <a:buChar char="•"/>
            </a:pPr>
            <a:r>
              <a:rPr lang="en-ZA" dirty="0" smtClean="0"/>
              <a:t> Stores and Category Performance</a:t>
            </a:r>
          </a:p>
          <a:p>
            <a:pPr>
              <a:buFont typeface="Arial" panose="020B0604020202020204" pitchFamily="34" charset="0"/>
              <a:buChar char="•"/>
            </a:pPr>
            <a:r>
              <a:rPr lang="en-ZA" dirty="0" smtClean="0"/>
              <a:t> Product Performance per Store</a:t>
            </a:r>
          </a:p>
          <a:p>
            <a:pPr>
              <a:buFont typeface="Arial" panose="020B0604020202020204" pitchFamily="34" charset="0"/>
              <a:buChar char="•"/>
            </a:pPr>
            <a:r>
              <a:rPr lang="en-ZA" dirty="0" smtClean="0"/>
              <a:t> Recommendations</a:t>
            </a:r>
          </a:p>
          <a:p>
            <a:pPr>
              <a:buFont typeface="Arial" panose="020B0604020202020204" pitchFamily="34" charset="0"/>
              <a:buChar char="•"/>
            </a:pPr>
            <a:r>
              <a:rPr lang="en-ZA" dirty="0" smtClean="0"/>
              <a:t> </a:t>
            </a:r>
            <a:r>
              <a:rPr lang="en-ZA" dirty="0" err="1" smtClean="0"/>
              <a:t>Conclussion</a:t>
            </a:r>
            <a:r>
              <a:rPr lang="en-ZA" dirty="0" smtClean="0"/>
              <a:t> </a:t>
            </a:r>
            <a:endParaRPr lang="en-US" dirty="0"/>
          </a:p>
        </p:txBody>
      </p:sp>
    </p:spTree>
    <p:extLst>
      <p:ext uri="{BB962C8B-B14F-4D97-AF65-F5344CB8AC3E}">
        <p14:creationId xmlns:p14="http://schemas.microsoft.com/office/powerpoint/2010/main" val="2826878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Introduction</a:t>
            </a:r>
            <a:endParaRPr lang="en-US" dirty="0"/>
          </a:p>
        </p:txBody>
      </p:sp>
      <p:sp>
        <p:nvSpPr>
          <p:cNvPr id="3" name="Content Placeholder 2"/>
          <p:cNvSpPr>
            <a:spLocks noGrp="1"/>
          </p:cNvSpPr>
          <p:nvPr>
            <p:ph idx="1"/>
          </p:nvPr>
        </p:nvSpPr>
        <p:spPr/>
        <p:txBody>
          <a:bodyPr>
            <a:normAutofit/>
          </a:bodyPr>
          <a:lstStyle/>
          <a:p>
            <a:pPr marL="0" indent="0">
              <a:buNone/>
            </a:pPr>
            <a:r>
              <a:rPr lang="en-ZA" sz="2000" dirty="0" smtClean="0"/>
              <a:t>The new CEO at Bright Coffee Shop is looking to lead the company to new direction to increase revenue and improve product performance, such decisions will made after looking into the following:</a:t>
            </a:r>
            <a:endParaRPr lang="en-ZA" sz="2000" dirty="0"/>
          </a:p>
          <a:p>
            <a:pPr>
              <a:buFont typeface="Arial" panose="020B0604020202020204" pitchFamily="34" charset="0"/>
              <a:buChar char="•"/>
            </a:pPr>
            <a:r>
              <a:rPr lang="en-ZA" sz="2000" dirty="0" smtClean="0"/>
              <a:t>Highlighting </a:t>
            </a:r>
            <a:r>
              <a:rPr lang="en-ZA" sz="2000" dirty="0" smtClean="0"/>
              <a:t>revenue made by the Bright Coffee, how did each of their 3 stores performed. The products that performed better compared to others.</a:t>
            </a:r>
          </a:p>
          <a:p>
            <a:pPr>
              <a:buFont typeface="Arial" panose="020B0604020202020204" pitchFamily="34" charset="0"/>
              <a:buChar char="•"/>
            </a:pPr>
            <a:r>
              <a:rPr lang="en-ZA" sz="2000" dirty="0"/>
              <a:t> </a:t>
            </a:r>
            <a:r>
              <a:rPr lang="en-ZA" sz="2000" dirty="0" smtClean="0"/>
              <a:t>Look into time and day store performance</a:t>
            </a:r>
          </a:p>
          <a:p>
            <a:pPr>
              <a:buFont typeface="Arial" panose="020B0604020202020204" pitchFamily="34" charset="0"/>
              <a:buChar char="•"/>
            </a:pPr>
            <a:r>
              <a:rPr lang="en-ZA" sz="2000" dirty="0" smtClean="0"/>
              <a:t>Sales trends across products and time intervals</a:t>
            </a:r>
          </a:p>
          <a:p>
            <a:pPr>
              <a:buFont typeface="Arial" panose="020B0604020202020204" pitchFamily="34" charset="0"/>
              <a:buChar char="•"/>
            </a:pPr>
            <a:r>
              <a:rPr lang="en-ZA" sz="2000" dirty="0" smtClean="0"/>
              <a:t>And then, make recommendations to the CEO oh how the can improve sales performance</a:t>
            </a:r>
            <a:endParaRPr lang="en-US" sz="2000" dirty="0"/>
          </a:p>
        </p:txBody>
      </p:sp>
    </p:spTree>
    <p:extLst>
      <p:ext uri="{BB962C8B-B14F-4D97-AF65-F5344CB8AC3E}">
        <p14:creationId xmlns:p14="http://schemas.microsoft.com/office/powerpoint/2010/main" val="1966908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Revenue Made for The Period</a:t>
            </a:r>
            <a:endParaRPr lang="en-US" dirty="0"/>
          </a:p>
        </p:txBody>
      </p:sp>
      <p:sp>
        <p:nvSpPr>
          <p:cNvPr id="3" name="Content Placeholder 2"/>
          <p:cNvSpPr>
            <a:spLocks noGrp="1"/>
          </p:cNvSpPr>
          <p:nvPr>
            <p:ph idx="1"/>
          </p:nvPr>
        </p:nvSpPr>
        <p:spPr/>
        <p:txBody>
          <a:bodyPr/>
          <a:lstStyle/>
          <a:p>
            <a:r>
              <a:rPr lang="en-ZA" dirty="0" smtClean="0"/>
              <a:t>For the period </a:t>
            </a:r>
            <a:r>
              <a:rPr lang="en-ZA" dirty="0" smtClean="0"/>
              <a:t>under review of </a:t>
            </a:r>
            <a:r>
              <a:rPr lang="en-ZA" dirty="0" smtClean="0"/>
              <a:t>6 months, the company has made a total revenue to the amount of</a:t>
            </a:r>
            <a:r>
              <a:rPr lang="en-ZA" b="1" dirty="0" smtClean="0"/>
              <a:t>:</a:t>
            </a:r>
          </a:p>
          <a:p>
            <a:endParaRPr lang="en-ZA" dirty="0"/>
          </a:p>
          <a:p>
            <a:endParaRPr lang="en-ZA" dirty="0" smtClean="0"/>
          </a:p>
          <a:p>
            <a:pPr algn="ctr"/>
            <a:r>
              <a:rPr lang="en-ZA" sz="6000" dirty="0" smtClean="0"/>
              <a:t>R698 812.33</a:t>
            </a:r>
            <a:endParaRPr lang="en-US" sz="6000" dirty="0"/>
          </a:p>
        </p:txBody>
      </p:sp>
    </p:spTree>
    <p:extLst>
      <p:ext uri="{BB962C8B-B14F-4D97-AF65-F5344CB8AC3E}">
        <p14:creationId xmlns:p14="http://schemas.microsoft.com/office/powerpoint/2010/main" val="1286420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shade val="50000"/>
            </a:schemeClr>
          </a:lnRef>
          <a:fillRef idx="1">
            <a:schemeClr val="dk1"/>
          </a:fillRef>
          <a:effectRef idx="0">
            <a:schemeClr val="dk1"/>
          </a:effectRef>
          <a:fontRef idx="minor">
            <a:schemeClr val="lt1"/>
          </a:fontRef>
        </p:style>
        <p:txBody>
          <a:bodyPr>
            <a:normAutofit/>
          </a:bodyPr>
          <a:lstStyle/>
          <a:p>
            <a:pPr marL="285750" indent="-285750">
              <a:buFont typeface="Arial" panose="020B0604020202020204" pitchFamily="34" charset="0"/>
              <a:buChar char="•"/>
            </a:pPr>
            <a:r>
              <a:rPr lang="en-ZA" sz="1400" dirty="0" smtClean="0"/>
              <a:t>Coffee, Tea and Bakery are the 3 Categories generating the most revenue for the coffee shop we see below with R269952.45, r196405.95 and R82315.64 Respectively.</a:t>
            </a:r>
            <a:br>
              <a:rPr lang="en-ZA" sz="1400" dirty="0" smtClean="0"/>
            </a:br>
            <a:r>
              <a:rPr lang="en-ZA" sz="1400" dirty="0"/>
              <a:t/>
            </a:r>
            <a:br>
              <a:rPr lang="en-ZA" sz="1400" dirty="0"/>
            </a:br>
            <a:r>
              <a:rPr lang="en-ZA" sz="1400" dirty="0" smtClean="0"/>
              <a:t>The Worst performing Categories </a:t>
            </a:r>
            <a:r>
              <a:rPr lang="en-ZA" sz="1400" dirty="0" smtClean="0"/>
              <a:t>amongst </a:t>
            </a:r>
            <a:r>
              <a:rPr lang="en-ZA" sz="1400" dirty="0" smtClean="0"/>
              <a:t>the 9 </a:t>
            </a:r>
            <a:r>
              <a:rPr lang="en-ZA" sz="1400" dirty="0" smtClean="0"/>
              <a:t>That the company</a:t>
            </a:r>
            <a:r>
              <a:rPr lang="en-ZA" sz="1400" dirty="0" smtClean="0"/>
              <a:t> </a:t>
            </a:r>
            <a:r>
              <a:rPr lang="en-ZA" sz="1400" dirty="0" smtClean="0"/>
              <a:t>have </a:t>
            </a:r>
            <a:r>
              <a:rPr lang="en-ZA" sz="1400" dirty="0" smtClean="0"/>
              <a:t> </a:t>
            </a:r>
            <a:r>
              <a:rPr lang="en-ZA" sz="1400" dirty="0" smtClean="0"/>
              <a:t>Flavours(R8408.80), Packaged Chocolate(R4407.64) and Loose Tea(R11213.60</a:t>
            </a:r>
            <a:r>
              <a:rPr lang="en-ZA" sz="1400" dirty="0" smtClean="0"/>
              <a:t>) are them.</a:t>
            </a:r>
            <a:endParaRPr lang="en-US" sz="1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37641541"/>
              </p:ext>
            </p:extLst>
          </p:nvPr>
        </p:nvGraphicFramePr>
        <p:xfrm>
          <a:off x="1023937" y="2286000"/>
          <a:ext cx="9720263" cy="40227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78441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285750" indent="-285750">
              <a:buFont typeface="Arial" panose="020B0604020202020204" pitchFamily="34" charset="0"/>
              <a:buChar char="•"/>
            </a:pPr>
            <a:r>
              <a:rPr lang="en-ZA" sz="1400" dirty="0" smtClean="0"/>
              <a:t>Coffee and Tea has been the best performing Category across all the stores followed by both Bakery and Drinking CHOCOLATE</a:t>
            </a:r>
            <a:br>
              <a:rPr lang="en-ZA" sz="1400" dirty="0" smtClean="0"/>
            </a:br>
            <a:r>
              <a:rPr lang="en-ZA" sz="1400" dirty="0"/>
              <a:t/>
            </a:r>
            <a:br>
              <a:rPr lang="en-ZA" sz="1400" dirty="0"/>
            </a:br>
            <a:r>
              <a:rPr lang="en-ZA" sz="1400" dirty="0" smtClean="0"/>
              <a:t>THE Three Lowest </a:t>
            </a:r>
            <a:r>
              <a:rPr lang="en-ZA" sz="1400" dirty="0" smtClean="0"/>
              <a:t>performing Categories </a:t>
            </a:r>
            <a:r>
              <a:rPr lang="en-ZA" sz="1400" dirty="0" smtClean="0"/>
              <a:t>ARE</a:t>
            </a:r>
            <a:r>
              <a:rPr lang="en-ZA" sz="1400" dirty="0" smtClean="0"/>
              <a:t> </a:t>
            </a:r>
            <a:r>
              <a:rPr lang="en-ZA" sz="1400" dirty="0" smtClean="0"/>
              <a:t>Branded, Packaged Chocolate and Loose TEA </a:t>
            </a:r>
            <a:br>
              <a:rPr lang="en-ZA" sz="1400" dirty="0" smtClean="0"/>
            </a:br>
            <a:r>
              <a:rPr lang="en-ZA" sz="1400" dirty="0"/>
              <a:t/>
            </a:r>
            <a:br>
              <a:rPr lang="en-ZA" sz="1400" dirty="0"/>
            </a:br>
            <a:r>
              <a:rPr lang="en-ZA" sz="1400" dirty="0" smtClean="0"/>
              <a:t>COFFEE BEANS AND flavours have been performing bad as well but there is room for IMPROVEMENT</a:t>
            </a:r>
            <a:endParaRPr lang="en-US" sz="1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16603473"/>
              </p:ext>
            </p:extLst>
          </p:nvPr>
        </p:nvGraphicFramePr>
        <p:xfrm>
          <a:off x="1023938" y="2286000"/>
          <a:ext cx="9720262" cy="40227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45773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685800" indent="-685800">
              <a:buFont typeface="Arial" panose="020B0604020202020204" pitchFamily="34" charset="0"/>
              <a:buChar char="•"/>
            </a:pPr>
            <a:r>
              <a:rPr lang="en-ZA" sz="1400" dirty="0" smtClean="0"/>
              <a:t>The month of June followed by MAY WERE THE BEST PERFORMING MONTHS, WHICH MIGHT BE AFFECTED </a:t>
            </a:r>
            <a:r>
              <a:rPr lang="en-ZA" sz="1400" dirty="0" smtClean="0"/>
              <a:t>BY DIFFERENT </a:t>
            </a:r>
            <a:r>
              <a:rPr lang="en-ZA" sz="1400" dirty="0" smtClean="0"/>
              <a:t>FACTORS RANGING FROM WEATHER, THE WINTER SEASON, AND more people focusing on hot Beverages</a:t>
            </a:r>
            <a:br>
              <a:rPr lang="en-ZA" sz="1400" dirty="0" smtClean="0"/>
            </a:br>
            <a:r>
              <a:rPr lang="en-ZA" sz="1400" dirty="0"/>
              <a:t/>
            </a:r>
            <a:br>
              <a:rPr lang="en-ZA" sz="1400" dirty="0"/>
            </a:br>
            <a:r>
              <a:rPr lang="en-ZA" sz="1400" dirty="0" smtClean="0"/>
              <a:t>February was the lowest month were revenue was made as it was the summer months and is one of the hottest months in the summer season in the country </a:t>
            </a:r>
            <a:endParaRPr lang="en-US" sz="1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59777139"/>
              </p:ext>
            </p:extLst>
          </p:nvPr>
        </p:nvGraphicFramePr>
        <p:xfrm>
          <a:off x="1023938" y="2286000"/>
          <a:ext cx="9720262" cy="40227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97106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285750" indent="-285750">
              <a:buFont typeface="Arial" panose="020B0604020202020204" pitchFamily="34" charset="0"/>
              <a:buChar char="•"/>
            </a:pPr>
            <a:r>
              <a:rPr lang="en-ZA" sz="1400" dirty="0" smtClean="0"/>
              <a:t>The Coffee SHOP IS </a:t>
            </a:r>
            <a:r>
              <a:rPr lang="en-ZA" sz="1400" dirty="0" smtClean="0"/>
              <a:t>MAKING </a:t>
            </a:r>
            <a:r>
              <a:rPr lang="en-ZA" sz="1400" dirty="0" smtClean="0"/>
              <a:t>Less Revenue in The evenings both on weekdays and </a:t>
            </a:r>
            <a:r>
              <a:rPr lang="en-ZA" sz="1400" dirty="0" smtClean="0"/>
              <a:t>Weekends.</a:t>
            </a:r>
            <a:r>
              <a:rPr lang="en-ZA" sz="1400" dirty="0" smtClean="0"/>
              <a:t/>
            </a:r>
            <a:br>
              <a:rPr lang="en-ZA" sz="1400" dirty="0" smtClean="0"/>
            </a:br>
            <a:r>
              <a:rPr lang="en-ZA" sz="1400" dirty="0"/>
              <a:t/>
            </a:r>
            <a:br>
              <a:rPr lang="en-ZA" sz="1400" dirty="0"/>
            </a:br>
            <a:r>
              <a:rPr lang="en-ZA" sz="1400" dirty="0" smtClean="0"/>
              <a:t>Morning Times on Weekdays and Weekends  have been the Most profitable </a:t>
            </a:r>
            <a:r>
              <a:rPr lang="en-ZA" sz="1400" dirty="0" smtClean="0"/>
              <a:t>Periods </a:t>
            </a:r>
            <a:r>
              <a:rPr lang="en-ZA" sz="1400" dirty="0" smtClean="0"/>
              <a:t>for the company, mornings have been the </a:t>
            </a:r>
            <a:r>
              <a:rPr lang="en-ZA" sz="1400" dirty="0" smtClean="0"/>
              <a:t>time </a:t>
            </a:r>
            <a:r>
              <a:rPr lang="en-ZA" sz="1400" dirty="0" smtClean="0"/>
              <a:t>where the company is making </a:t>
            </a:r>
            <a:r>
              <a:rPr lang="en-ZA" sz="1400" dirty="0" smtClean="0"/>
              <a:t>MORE Sales </a:t>
            </a:r>
            <a:r>
              <a:rPr lang="en-ZA" sz="1400" dirty="0" smtClean="0"/>
              <a:t>with revenue of R280 078.35.</a:t>
            </a:r>
            <a:br>
              <a:rPr lang="en-ZA" sz="1400" dirty="0" smtClean="0"/>
            </a:br>
            <a:r>
              <a:rPr lang="en-ZA" sz="1400" dirty="0"/>
              <a:t/>
            </a:r>
            <a:br>
              <a:rPr lang="en-ZA" sz="1400" dirty="0"/>
            </a:br>
            <a:r>
              <a:rPr lang="en-ZA" sz="1400" dirty="0" smtClean="0"/>
              <a:t>The Evenings WITH revenue of R29 468.15 on weekends and R76334.68 ON WEEKDAYS are the least period in terms of </a:t>
            </a:r>
            <a:r>
              <a:rPr lang="en-ZA" sz="1400" dirty="0" smtClean="0"/>
              <a:t>business.</a:t>
            </a:r>
            <a:endParaRPr lang="en-US" sz="1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50683192"/>
              </p:ext>
            </p:extLst>
          </p:nvPr>
        </p:nvGraphicFramePr>
        <p:xfrm>
          <a:off x="1023938" y="2286000"/>
          <a:ext cx="9720262" cy="40227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45226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sz="1400" dirty="0" smtClean="0"/>
              <a:t>January and February were the lowest months in </a:t>
            </a:r>
            <a:r>
              <a:rPr lang="en-ZA" sz="1400" dirty="0" smtClean="0"/>
              <a:t>Sales for the shop ,REASONS Could BE that </a:t>
            </a:r>
            <a:r>
              <a:rPr lang="en-ZA" sz="1400" dirty="0" smtClean="0"/>
              <a:t>Most people are still not back to work or slowly going back to work.</a:t>
            </a:r>
            <a:br>
              <a:rPr lang="en-ZA" sz="1400" dirty="0" smtClean="0"/>
            </a:br>
            <a:r>
              <a:rPr lang="en-ZA" sz="1400" dirty="0"/>
              <a:t/>
            </a:r>
            <a:br>
              <a:rPr lang="en-ZA" sz="1400" dirty="0"/>
            </a:br>
            <a:r>
              <a:rPr lang="en-ZA" sz="1400" dirty="0" smtClean="0"/>
              <a:t>May and June as it was the winter season the Sales made </a:t>
            </a:r>
            <a:r>
              <a:rPr lang="en-ZA" sz="1400" dirty="0" smtClean="0"/>
              <a:t>were </a:t>
            </a:r>
            <a:r>
              <a:rPr lang="en-ZA" sz="1400" dirty="0" smtClean="0"/>
              <a:t>high during the </a:t>
            </a:r>
            <a:r>
              <a:rPr lang="en-ZA" sz="1400" dirty="0" smtClean="0"/>
              <a:t>weekdays </a:t>
            </a:r>
            <a:r>
              <a:rPr lang="en-ZA" sz="1400" dirty="0" smtClean="0"/>
              <a:t>as people are going to work which is linked to high morning sales IN June. </a:t>
            </a:r>
            <a:br>
              <a:rPr lang="en-ZA" sz="1400" dirty="0" smtClean="0"/>
            </a:br>
            <a:r>
              <a:rPr lang="en-ZA" sz="1400" dirty="0"/>
              <a:t/>
            </a:r>
            <a:br>
              <a:rPr lang="en-ZA" sz="1400" dirty="0"/>
            </a:br>
            <a:r>
              <a:rPr lang="en-ZA" sz="1400" dirty="0" smtClean="0"/>
              <a:t>The Weekends have been performing low but not bad as it is consistent across the period except for APRIL as that was the month most sales were made on a weekend.</a:t>
            </a:r>
            <a:endParaRPr lang="en-US" sz="1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41534233"/>
              </p:ext>
            </p:extLst>
          </p:nvPr>
        </p:nvGraphicFramePr>
        <p:xfrm>
          <a:off x="1023938" y="2286000"/>
          <a:ext cx="9720262" cy="40227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59165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285750" indent="-285750">
              <a:buFont typeface="Arial" panose="020B0604020202020204" pitchFamily="34" charset="0"/>
              <a:buChar char="•"/>
            </a:pPr>
            <a:r>
              <a:rPr lang="en-ZA" sz="1400" dirty="0" smtClean="0"/>
              <a:t>The company has been doing well in Sales made in the morning, ranging around R50000 on weekdays.</a:t>
            </a:r>
            <a:br>
              <a:rPr lang="en-ZA" sz="1400" dirty="0" smtClean="0"/>
            </a:br>
            <a:r>
              <a:rPr lang="en-ZA" sz="1400" dirty="0"/>
              <a:t/>
            </a:r>
            <a:br>
              <a:rPr lang="en-ZA" sz="1400" dirty="0"/>
            </a:br>
            <a:r>
              <a:rPr lang="en-ZA" sz="1400" dirty="0" smtClean="0"/>
              <a:t>The afternoons have been consistent on the R30000 mark but Tuesdays seem to be days that the company is not performing well</a:t>
            </a:r>
            <a:endParaRPr lang="en-US" sz="1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89559665"/>
              </p:ext>
            </p:extLst>
          </p:nvPr>
        </p:nvGraphicFramePr>
        <p:xfrm>
          <a:off x="1023938" y="2286000"/>
          <a:ext cx="9720262" cy="40227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566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685800" indent="-685800">
              <a:buFont typeface="Arial" panose="020B0604020202020204" pitchFamily="34" charset="0"/>
              <a:buChar char="•"/>
            </a:pPr>
            <a:r>
              <a:rPr lang="en-ZA" sz="1400" dirty="0" smtClean="0"/>
              <a:t>Hell’s Kitchen IS The company’s high performing store or </a:t>
            </a:r>
            <a:r>
              <a:rPr lang="en-ZA" sz="1400" dirty="0" smtClean="0"/>
              <a:t>location </a:t>
            </a:r>
            <a:r>
              <a:rPr lang="en-ZA" sz="1400" dirty="0" smtClean="0"/>
              <a:t>with 21 932 sales made for the period UNDER REVIEW.</a:t>
            </a:r>
            <a:br>
              <a:rPr lang="en-ZA" sz="1400" dirty="0" smtClean="0"/>
            </a:br>
            <a:r>
              <a:rPr lang="en-ZA" sz="1400" dirty="0"/>
              <a:t/>
            </a:r>
            <a:br>
              <a:rPr lang="en-ZA" sz="1400" dirty="0"/>
            </a:br>
            <a:r>
              <a:rPr lang="en-ZA" sz="1400" dirty="0" smtClean="0"/>
              <a:t>The Store located in ASTORIA IS THE SECOND PERFORMING STORE FOR BRIGHT COFFEE SALES RECORDED TO BE 21557, FOLLOWED BY LOWER MANHATTAN.</a:t>
            </a:r>
            <a:br>
              <a:rPr lang="en-ZA" sz="1400" dirty="0" smtClean="0"/>
            </a:br>
            <a:r>
              <a:rPr lang="en-ZA" sz="1400" dirty="0"/>
              <a:t/>
            </a:r>
            <a:br>
              <a:rPr lang="en-ZA" sz="1400" dirty="0"/>
            </a:br>
            <a:r>
              <a:rPr lang="en-ZA" sz="1400" dirty="0" smtClean="0"/>
              <a:t>These performance could be influenced by different things like where its located </a:t>
            </a:r>
            <a:r>
              <a:rPr lang="en-ZA" sz="1400" dirty="0" smtClean="0"/>
              <a:t>WHERE There </a:t>
            </a:r>
            <a:r>
              <a:rPr lang="en-ZA" sz="1400" dirty="0" smtClean="0"/>
              <a:t>is a small population or far from people like at a Garage.</a:t>
            </a:r>
            <a:r>
              <a:rPr lang="en-ZA" sz="1400" dirty="0"/>
              <a:t/>
            </a:r>
            <a:br>
              <a:rPr lang="en-ZA" sz="1400" dirty="0"/>
            </a:br>
            <a:endParaRPr lang="en-US" sz="1400" dirty="0"/>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1079781066"/>
              </p:ext>
            </p:extLst>
          </p:nvPr>
        </p:nvGraphicFramePr>
        <p:xfrm>
          <a:off x="1023938" y="2286000"/>
          <a:ext cx="9720262" cy="40227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7448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Trends Analysis</a:t>
            </a:r>
            <a:endParaRPr lang="en-US" dirty="0"/>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ZA" sz="1100" dirty="0" smtClean="0"/>
              <a:t> </a:t>
            </a:r>
            <a:r>
              <a:rPr lang="en-ZA" sz="1400" dirty="0" smtClean="0"/>
              <a:t>Coffee and Tea are the two categories to perform well for the company across summer to winter times from morning to </a:t>
            </a:r>
            <a:r>
              <a:rPr lang="en-ZA" sz="1400" dirty="0" smtClean="0"/>
              <a:t>evenings.</a:t>
            </a:r>
            <a:endParaRPr lang="en-ZA" sz="1400" dirty="0" smtClean="0"/>
          </a:p>
          <a:p>
            <a:pPr>
              <a:buFont typeface="Arial" panose="020B0604020202020204" pitchFamily="34" charset="0"/>
              <a:buChar char="•"/>
            </a:pPr>
            <a:r>
              <a:rPr lang="en-ZA" sz="1400" dirty="0" smtClean="0"/>
              <a:t>Packaged Chocolate performed bad through out all the stores with 104 (at Astoria), 155 (at Lower Manhattan), 187 (at Hell’s Kitchen</a:t>
            </a:r>
            <a:r>
              <a:rPr lang="en-ZA" sz="1400" dirty="0" smtClean="0"/>
              <a:t>).</a:t>
            </a:r>
            <a:endParaRPr lang="en-ZA" sz="1400" dirty="0" smtClean="0"/>
          </a:p>
          <a:p>
            <a:pPr>
              <a:buFont typeface="Arial" panose="020B0604020202020204" pitchFamily="34" charset="0"/>
              <a:buChar char="•"/>
            </a:pPr>
            <a:r>
              <a:rPr lang="en-ZA" sz="1400" dirty="0" smtClean="0"/>
              <a:t> Bakery and Coffee are the best sellers in </a:t>
            </a:r>
            <a:r>
              <a:rPr lang="en-ZA" sz="1400" dirty="0" smtClean="0"/>
              <a:t>the following</a:t>
            </a:r>
            <a:r>
              <a:rPr lang="en-ZA" sz="1400" dirty="0" smtClean="0"/>
              <a:t> </a:t>
            </a:r>
            <a:r>
              <a:rPr lang="en-ZA" sz="1400" dirty="0" smtClean="0"/>
              <a:t>time intervals (Mornings, Afternoon, and Evenings)</a:t>
            </a:r>
          </a:p>
          <a:p>
            <a:pPr>
              <a:buFont typeface="Arial" panose="020B0604020202020204" pitchFamily="34" charset="0"/>
              <a:buChar char="•"/>
            </a:pPr>
            <a:r>
              <a:rPr lang="en-ZA" sz="1400" dirty="0" smtClean="0"/>
              <a:t> The has been growing trajectory when the months start moving to the winter seasons as </a:t>
            </a:r>
            <a:r>
              <a:rPr lang="en-ZA" sz="1400" dirty="0" smtClean="0"/>
              <a:t>hot </a:t>
            </a:r>
            <a:r>
              <a:rPr lang="en-ZA" sz="1400" dirty="0" smtClean="0"/>
              <a:t>the beverages are selling </a:t>
            </a:r>
            <a:r>
              <a:rPr lang="en-ZA" sz="1400" dirty="0" smtClean="0"/>
              <a:t>better and </a:t>
            </a:r>
            <a:r>
              <a:rPr lang="en-ZA" sz="1400" dirty="0" smtClean="0"/>
              <a:t>the baked product also hold that trend</a:t>
            </a:r>
            <a:endParaRPr lang="en-ZA" sz="1400" dirty="0"/>
          </a:p>
          <a:p>
            <a:pPr>
              <a:buFont typeface="Arial" panose="020B0604020202020204" pitchFamily="34" charset="0"/>
              <a:buChar char="•"/>
            </a:pPr>
            <a:r>
              <a:rPr lang="en-ZA" sz="1400" dirty="0" smtClean="0"/>
              <a:t>The winter months seem to be where the company was performing well in both weekdays and weekends as well.</a:t>
            </a:r>
          </a:p>
          <a:p>
            <a:pPr>
              <a:buFont typeface="Arial" panose="020B0604020202020204" pitchFamily="34" charset="0"/>
              <a:buChar char="•"/>
            </a:pPr>
            <a:r>
              <a:rPr lang="en-ZA" sz="1400" dirty="0" smtClean="0"/>
              <a:t>The Lower Manhattan store is the least performing store across </a:t>
            </a:r>
            <a:r>
              <a:rPr lang="en-ZA" sz="1400" dirty="0" smtClean="0"/>
              <a:t>all three </a:t>
            </a:r>
            <a:r>
              <a:rPr lang="en-ZA" sz="1400" dirty="0" smtClean="0"/>
              <a:t>locations the company has.</a:t>
            </a:r>
            <a:endParaRPr lang="en-ZA" sz="1100" dirty="0" smtClean="0"/>
          </a:p>
          <a:p>
            <a:pPr>
              <a:buFont typeface="Arial" panose="020B0604020202020204" pitchFamily="34" charset="0"/>
              <a:buChar char="•"/>
            </a:pPr>
            <a:endParaRPr lang="en-US" sz="1100" dirty="0"/>
          </a:p>
        </p:txBody>
      </p:sp>
    </p:spTree>
    <p:extLst>
      <p:ext uri="{BB962C8B-B14F-4D97-AF65-F5344CB8AC3E}">
        <p14:creationId xmlns:p14="http://schemas.microsoft.com/office/powerpoint/2010/main" val="4274763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Recommendations</a:t>
            </a:r>
            <a:endParaRPr lang="en-US" dirty="0"/>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ZA" sz="1400" dirty="0" smtClean="0"/>
              <a:t>The company should do promotional runs </a:t>
            </a:r>
            <a:r>
              <a:rPr lang="en-ZA" sz="1400" dirty="0" smtClean="0"/>
              <a:t>on</a:t>
            </a:r>
            <a:r>
              <a:rPr lang="en-ZA" sz="1400" dirty="0" smtClean="0"/>
              <a:t> </a:t>
            </a:r>
            <a:r>
              <a:rPr lang="en-ZA" sz="1400" dirty="0" smtClean="0"/>
              <a:t>low performing products like </a:t>
            </a:r>
            <a:r>
              <a:rPr lang="en-US" sz="1400"/>
              <a:t>Traditional </a:t>
            </a:r>
            <a:r>
              <a:rPr lang="en-US" sz="1400"/>
              <a:t>Blend </a:t>
            </a:r>
            <a:r>
              <a:rPr lang="en-US" sz="1400" smtClean="0"/>
              <a:t>Chai, Peppermint, </a:t>
            </a:r>
            <a:r>
              <a:rPr lang="en-US" sz="1400"/>
              <a:t>Jamacian Coffee </a:t>
            </a:r>
            <a:r>
              <a:rPr lang="en-US" sz="1400"/>
              <a:t>River</a:t>
            </a:r>
            <a:r>
              <a:rPr lang="en-US" sz="1400"/>
              <a:t> </a:t>
            </a:r>
            <a:r>
              <a:rPr lang="en-ZA" sz="1400" smtClean="0"/>
              <a:t>and </a:t>
            </a:r>
            <a:r>
              <a:rPr lang="en-ZA" sz="1400" dirty="0" smtClean="0"/>
              <a:t>get a points that can be used to buy with when they reach 50points.</a:t>
            </a:r>
          </a:p>
          <a:p>
            <a:pPr>
              <a:buFont typeface="Arial" panose="020B0604020202020204" pitchFamily="34" charset="0"/>
              <a:buChar char="•"/>
            </a:pPr>
            <a:r>
              <a:rPr lang="en-ZA" sz="1400" dirty="0" smtClean="0"/>
              <a:t>Place discounts on slow moving time intervals like the evenings on selected products like Loose Tea and Packaged chocolates</a:t>
            </a:r>
          </a:p>
          <a:p>
            <a:pPr>
              <a:buFont typeface="Arial" panose="020B0604020202020204" pitchFamily="34" charset="0"/>
              <a:buChar char="•"/>
            </a:pPr>
            <a:r>
              <a:rPr lang="en-ZA" sz="1400" dirty="0" smtClean="0"/>
              <a:t>In the summer months there should be competitions runs where the conditions to enter is by buying the slow product and at the Lower Manhattan location.</a:t>
            </a:r>
          </a:p>
          <a:p>
            <a:pPr>
              <a:buFont typeface="Arial" panose="020B0604020202020204" pitchFamily="34" charset="0"/>
              <a:buChar char="•"/>
            </a:pPr>
            <a:r>
              <a:rPr lang="en-ZA" sz="1400" dirty="0" smtClean="0"/>
              <a:t> There should be a review at the store not performing about staff size, store design and customer awareness to review if people are aware that the company has another branch there.</a:t>
            </a:r>
          </a:p>
          <a:p>
            <a:pPr>
              <a:buFont typeface="Arial" panose="020B0604020202020204" pitchFamily="34" charset="0"/>
              <a:buChar char="•"/>
            </a:pPr>
            <a:r>
              <a:rPr lang="en-ZA" sz="1400" dirty="0" smtClean="0"/>
              <a:t>Drop the prices of the of the product that are not moving of the shelves of the store</a:t>
            </a:r>
          </a:p>
          <a:p>
            <a:pPr>
              <a:buFont typeface="Arial" panose="020B0604020202020204" pitchFamily="34" charset="0"/>
              <a:buChar char="•"/>
            </a:pPr>
            <a:r>
              <a:rPr lang="en-ZA" sz="1400" dirty="0" smtClean="0"/>
              <a:t>Try to repackage the product not being sold or selling at the slowest rate with the one customer are buying like Packaged Chocolate be included in some coffee products.</a:t>
            </a:r>
          </a:p>
          <a:p>
            <a:pPr>
              <a:buFont typeface="Arial" panose="020B0604020202020204" pitchFamily="34" charset="0"/>
              <a:buChar char="•"/>
            </a:pPr>
            <a:r>
              <a:rPr lang="en-ZA" sz="1400" dirty="0" smtClean="0"/>
              <a:t>The company should also consider stop selling some of the products not doing well on both weekdays and weekends.</a:t>
            </a:r>
            <a:endParaRPr lang="en-US" sz="1400" dirty="0"/>
          </a:p>
        </p:txBody>
      </p:sp>
    </p:spTree>
    <p:extLst>
      <p:ext uri="{BB962C8B-B14F-4D97-AF65-F5344CB8AC3E}">
        <p14:creationId xmlns:p14="http://schemas.microsoft.com/office/powerpoint/2010/main" val="2559937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CONCLUSION</a:t>
            </a:r>
            <a:endParaRPr lang="en-US" dirty="0"/>
          </a:p>
        </p:txBody>
      </p:sp>
      <p:sp>
        <p:nvSpPr>
          <p:cNvPr id="3" name="Content Placeholder 2"/>
          <p:cNvSpPr>
            <a:spLocks noGrp="1"/>
          </p:cNvSpPr>
          <p:nvPr>
            <p:ph idx="1"/>
          </p:nvPr>
        </p:nvSpPr>
        <p:spPr/>
        <p:txBody>
          <a:bodyPr/>
          <a:lstStyle/>
          <a:p>
            <a:r>
              <a:rPr lang="en-ZA" dirty="0" smtClean="0"/>
              <a:t>In reviewing the company historical data, it is important that we see that the business in doing okay in some aspects like Coffee, Tea and </a:t>
            </a:r>
            <a:r>
              <a:rPr lang="en-ZA" dirty="0" smtClean="0"/>
              <a:t>Bakery. Also Hell’s Kitchen is the company’s most profitable location as well the morning time bucket. Therefore </a:t>
            </a:r>
            <a:r>
              <a:rPr lang="en-ZA" dirty="0" smtClean="0"/>
              <a:t>it is worth noting that work can be done on Flavours and drinking chocolate to improve selling, and that it’s okay to discontinue some products that are profitable.</a:t>
            </a:r>
            <a:endParaRPr lang="en-US" dirty="0"/>
          </a:p>
        </p:txBody>
      </p:sp>
    </p:spTree>
    <p:extLst>
      <p:ext uri="{BB962C8B-B14F-4D97-AF65-F5344CB8AC3E}">
        <p14:creationId xmlns:p14="http://schemas.microsoft.com/office/powerpoint/2010/main" val="2848200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E1063F05-99EF-4DA3-B595-4E26670F29F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5468548" cy="6858000"/>
          </a:xfrm>
          <a:prstGeom prst="rect">
            <a:avLst/>
          </a:prstGeom>
          <a:gradFill>
            <a:gsLst>
              <a:gs pos="0">
                <a:schemeClr val="accent6">
                  <a:lumMod val="50000"/>
                </a:schemeClr>
              </a:gs>
              <a:gs pos="100000">
                <a:schemeClr val="bg1"/>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BD904461-E85A-43E7-AA0B-B7DF596CA62F}"/>
              </a:ext>
            </a:extLst>
          </p:cNvPr>
          <p:cNvSpPr>
            <a:spLocks noGrp="1"/>
          </p:cNvSpPr>
          <p:nvPr>
            <p:ph type="title"/>
          </p:nvPr>
        </p:nvSpPr>
        <p:spPr>
          <a:xfrm>
            <a:off x="1024129" y="585216"/>
            <a:ext cx="3779085" cy="1499616"/>
          </a:xfrm>
          <a:prstGeom prst="rect">
            <a:avLst/>
          </a:prstGeom>
        </p:spPr>
        <p:txBody>
          <a:bodyPr lIns="0" tIns="108000">
            <a:normAutofit/>
          </a:bodyPr>
          <a:lstStyle/>
          <a:p>
            <a:r>
              <a:rPr lang="en-US" sz="5400" b="1" dirty="0">
                <a:solidFill>
                  <a:srgbClr val="FFFFFF"/>
                </a:solidFill>
              </a:rPr>
              <a:t>Thank You</a:t>
            </a:r>
          </a:p>
        </p:txBody>
      </p:sp>
      <p:cxnSp>
        <p:nvCxnSpPr>
          <p:cNvPr id="12" name="Straight Connector 11">
            <a:extLst>
              <a:ext uri="{FF2B5EF4-FFF2-40B4-BE49-F238E27FC236}">
                <a16:creationId xmlns:a16="http://schemas.microsoft.com/office/drawing/2014/main" xmlns="" id="{E0A835C2-2B9B-4174-AA2C-60A4F1311908}"/>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flipV="1">
            <a:off x="762000" y="826324"/>
            <a:ext cx="0" cy="914400"/>
          </a:xfrm>
          <a:prstGeom prst="line">
            <a:avLst/>
          </a:prstGeom>
          <a:ln w="19050">
            <a:solidFill>
              <a:srgbClr val="D39F4A"/>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xmlns="" id="{9BBDDBE1-00CD-4A90-9BA9-5E79F6C6FDE0}"/>
              </a:ext>
            </a:extLst>
          </p:cNvPr>
          <p:cNvSpPr>
            <a:spLocks noGrp="1"/>
          </p:cNvSpPr>
          <p:nvPr>
            <p:ph idx="1"/>
          </p:nvPr>
        </p:nvSpPr>
        <p:spPr>
          <a:xfrm>
            <a:off x="1466258" y="2286000"/>
            <a:ext cx="3791711" cy="3931920"/>
          </a:xfrm>
          <a:prstGeom prst="rect">
            <a:avLst/>
          </a:prstGeom>
        </p:spPr>
        <p:txBody>
          <a:bodyPr>
            <a:normAutofit/>
          </a:bodyPr>
          <a:lstStyle/>
          <a:p>
            <a:r>
              <a:rPr lang="en-US" dirty="0">
                <a:solidFill>
                  <a:srgbClr val="FFFFFF"/>
                </a:solidFill>
              </a:rPr>
              <a:t>Email</a:t>
            </a:r>
            <a:br>
              <a:rPr lang="en-US" dirty="0">
                <a:solidFill>
                  <a:srgbClr val="FFFFFF"/>
                </a:solidFill>
              </a:rPr>
            </a:br>
            <a:r>
              <a:rPr lang="en-US" dirty="0" smtClean="0"/>
              <a:t>BrightCoffee@Org.com</a:t>
            </a:r>
            <a:endParaRPr lang="en-US" b="1" dirty="0">
              <a:solidFill>
                <a:srgbClr val="FFFFFF"/>
              </a:solidFill>
            </a:endParaRPr>
          </a:p>
          <a:p>
            <a:pPr marL="0" indent="0">
              <a:buNone/>
            </a:pPr>
            <a:endParaRPr lang="en-US" dirty="0">
              <a:solidFill>
                <a:srgbClr val="FFFFFF"/>
              </a:solidFill>
            </a:endParaRPr>
          </a:p>
        </p:txBody>
      </p:sp>
      <p:pic>
        <p:nvPicPr>
          <p:cNvPr id="5" name="Picture 4" descr="Restaurant Open Sign">
            <a:extLst>
              <a:ext uri="{FF2B5EF4-FFF2-40B4-BE49-F238E27FC236}">
                <a16:creationId xmlns:a16="http://schemas.microsoft.com/office/drawing/2014/main" xmlns="" id="{4BB88093-7048-42AA-9AFC-B007B4E797A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468548" y="10"/>
            <a:ext cx="6723452" cy="6857990"/>
          </a:xfrm>
          <a:prstGeom prst="rect">
            <a:avLst/>
          </a:prstGeom>
        </p:spPr>
      </p:pic>
      <p:pic>
        <p:nvPicPr>
          <p:cNvPr id="7" name="Graphic 6" descr="Envelope">
            <a:extLst>
              <a:ext uri="{FF2B5EF4-FFF2-40B4-BE49-F238E27FC236}">
                <a16:creationId xmlns:a16="http://schemas.microsoft.com/office/drawing/2014/main" xmlns="" id="{1BCFD98B-5534-433A-A8E6-4DE2A04C391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024129" y="2286000"/>
            <a:ext cx="360000" cy="360000"/>
          </a:xfrm>
          <a:prstGeom prst="rect">
            <a:avLst/>
          </a:prstGeom>
        </p:spPr>
      </p:pic>
    </p:spTree>
    <p:extLst>
      <p:ext uri="{BB962C8B-B14F-4D97-AF65-F5344CB8AC3E}">
        <p14:creationId xmlns:p14="http://schemas.microsoft.com/office/powerpoint/2010/main" val="21570444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Status xmlns="71af3243-3dd4-4a8d-8c0d-dd76da1f02a5">Not started</Statu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b385d60f68dd989dca1fdc827799d85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911b479caf7b199da365455750e4572"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E0C1243-C9FF-4461-B21D-DC7A9A834A3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CF6B0913-D4BB-427F-9A3C-58E430AB6A53}">
  <ds:schemaRefs>
    <ds:schemaRef ds:uri="http://schemas.microsoft.com/sharepoint/v3/contenttype/forms"/>
  </ds:schemaRefs>
</ds:datastoreItem>
</file>

<file path=customXml/itemProps3.xml><?xml version="1.0" encoding="utf-8"?>
<ds:datastoreItem xmlns:ds="http://schemas.openxmlformats.org/officeDocument/2006/customXml" ds:itemID="{7CF886C1-21C8-492D-B13F-01E91F83DF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Retail design</Template>
  <TotalTime>0</TotalTime>
  <Words>794</Words>
  <Application>Microsoft Office PowerPoint</Application>
  <PresentationFormat>Widescreen</PresentationFormat>
  <Paragraphs>74</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Tw Cen MT</vt:lpstr>
      <vt:lpstr>Tw Cen MT Condensed</vt:lpstr>
      <vt:lpstr>Wingdings 3</vt:lpstr>
      <vt:lpstr>Integral</vt:lpstr>
      <vt:lpstr>BRIGHT   Coffee  SHOP</vt:lpstr>
      <vt:lpstr>Contents</vt:lpstr>
      <vt:lpstr>Introduction</vt:lpstr>
      <vt:lpstr>Revenue Made for The Period</vt:lpstr>
      <vt:lpstr>Coffee, Tea and Bakery are the 3 Categories generating the most revenue for the coffee shop we see below with R269952.45, r196405.95 and R82315.64 Respectively.  The Worst performing Categories amongst the 9 That the company have  Flavours(R8408.80), Packaged Chocolate(R4407.64) and Loose Tea(R11213.60) are them.</vt:lpstr>
      <vt:lpstr>Coffee and Tea has been the best performing Category across all the stores followed by both Bakery and Drinking CHOCOLATE  THE Three Lowest performing Categories ARE Branded, Packaged Chocolate and Loose TEA   COFFEE BEANS AND flavours have been performing bad as well but there is room for IMPROVEMENT</vt:lpstr>
      <vt:lpstr>The month of June followed by MAY WERE THE BEST PERFORMING MONTHS, WHICH MIGHT BE AFFECTED BY DIFFERENT FACTORS RANGING FROM WEATHER, THE WINTER SEASON, AND more people focusing on hot Beverages  February was the lowest month were revenue was made as it was the summer months and is one of the hottest months in the summer season in the country </vt:lpstr>
      <vt:lpstr>The Coffee SHOP IS MAKING Less Revenue in The evenings both on weekdays and Weekends.  Morning Times on Weekdays and Weekends  have been the Most profitable Periods for the company, mornings have been the time where the company is making MORE Sales with revenue of R280 078.35.  The Evenings WITH revenue of R29 468.15 on weekends and R76334.68 ON WEEKDAYS are the least period in terms of business.</vt:lpstr>
      <vt:lpstr>January and February were the lowest months in Sales for the shop ,REASONS Could BE that Most people are still not back to work or slowly going back to work.  May and June as it was the winter season the Sales made were high during the weekdays as people are going to work which is linked to high morning sales IN June.   The Weekends have been performing low but not bad as it is consistent across the period except for APRIL as that was the month most sales were made on a weekend.</vt:lpstr>
      <vt:lpstr>The company has been doing well in Sales made in the morning, ranging around R50000 on weekdays.  The afternoons have been consistent on the R30000 mark but Tuesdays seem to be days that the company is not performing well</vt:lpstr>
      <vt:lpstr>Hell’s Kitchen IS The company’s high performing store or location with 21 932 sales made for the period UNDER REVIEW.  The Store located in ASTORIA IS THE SECOND PERFORMING STORE FOR BRIGHT COFFEE SALES RECORDED TO BE 21557, FOLLOWED BY LOWER MANHATTAN.  These performance could be influenced by different things like where its located WHERE There is a small population or far from people like at a Garage. </vt:lpstr>
      <vt:lpstr>Trends Analysis</vt:lpstr>
      <vt:lpstr>Recommendations</vt:lpstr>
      <vt:lpstr>CONCLUSION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2026-03-30T13:07:52Z</dcterms:created>
  <dcterms:modified xsi:type="dcterms:W3CDTF">2026-03-31T13:00:05Z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